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6" r:id="rId2"/>
  </p:sldIdLst>
  <p:sldSz cx="14363700" cy="9934575"/>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49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 name="Header gold rule">
            <a:extLst>
              <a:ext uri="{FF2B5EF4-FFF2-40B4-BE49-F238E27FC236}">
                <a16:creationId xmlns:a16="http://schemas.microsoft.com/office/drawing/2014/main" id="{46A1FA97-6167-435E-BF62-08EB39156155}"/>
              </a:ext>
            </a:extLst>
          </p:cNvPr>
          <p:cNvSpPr>
            <a:spLocks noGrp="1"/>
          </p:cNvSpPr>
          <p:nvPr/>
        </p:nvSpPr>
        <p:spPr>
          <a:xfrm>
            <a:off x="190500" y="514350"/>
            <a:ext cx="11734800" cy="19050"/>
          </a:xfrm>
          <a:prstGeom prst="rect">
            <a:avLst/>
          </a:prstGeom>
          <a:solidFill>
            <a:srgbClr val="E7A300"/>
          </a:solidFill>
          <a:ln w="0">
            <a:noFill/>
          </a:ln>
        </p:spPr>
        <p:txBody>
          <a:bodyPr/>
          <a:lstStyle/>
          <a:p>
            <a:endParaRPr lang="zh-CN" altLang="en-US"/>
          </a:p>
        </p:txBody>
      </p:sp>
      <p:sp>
        <p:nvSpPr>
          <p:cNvPr id="2" name="Section header">
            <a:extLst>
              <a:ext uri="{FF2B5EF4-FFF2-40B4-BE49-F238E27FC236}">
                <a16:creationId xmlns:a16="http://schemas.microsoft.com/office/drawing/2014/main" id="{18041668-0237-45AE-83CF-E84900B3D775}"/>
              </a:ext>
            </a:extLst>
          </p:cNvPr>
          <p:cNvSpPr>
            <a:spLocks noGrp="1"/>
          </p:cNvSpPr>
          <p:nvPr/>
        </p:nvSpPr>
        <p:spPr>
          <a:xfrm>
            <a:off x="200025" y="142875"/>
            <a:ext cx="4762500" cy="333375"/>
          </a:xfrm>
          <a:prstGeom prst="rect">
            <a:avLst/>
          </a:prstGeom>
          <a:noFill/>
          <a:ln w="0">
            <a:noFill/>
          </a:ln>
        </p:spPr>
        <p:txBody>
          <a:bodyPr wrap="square" lIns="0" tIns="0" rIns="0" bIns="0" anchor="t">
            <a:noAutofit/>
          </a:bodyPr>
          <a:lstStyle/>
          <a:p>
            <a:pPr algn="l">
              <a:lnSpc>
                <a:spcPct val="100000"/>
              </a:lnSpc>
              <a:buNone/>
              <a:defRPr sz="2250" b="0">
                <a:solidFill>
                  <a:srgbClr val="111111"/>
                </a:solidFill>
                <a:latin typeface="Nimbus Sans Narrow"/>
                <a:ea typeface="Nimbus Sans Narrow"/>
                <a:cs typeface="Nimbus Sans Narrow"/>
              </a:defRPr>
            </a:pPr>
            <a:r>
              <a:rPr sz="2250" b="0">
                <a:solidFill>
                  <a:srgbClr val="111111"/>
                </a:solidFill>
                <a:latin typeface="Nimbus Sans Narrow"/>
                <a:ea typeface="Nimbus Sans Narrow"/>
                <a:cs typeface="Nimbus Sans Narrow"/>
              </a:rPr>
              <a:t>VISION SYSTEM</a:t>
            </a:r>
          </a:p>
        </p:txBody>
      </p:sp>
      <p:pic>
        <p:nvPicPr>
          <p:cNvPr id="92" name="图片 91"/>
          <p:cNvPicPr>
            <a:picLocks noChangeAspect="1"/>
          </p:cNvPicPr>
          <p:nvPr/>
        </p:nvPicPr>
        <p:blipFill>
          <a:blip r:embed="rId3"/>
          <a:stretch/>
        </p:blipFill>
        <p:spPr>
          <a:xfrm>
            <a:off x="12001500" y="49869"/>
            <a:ext cx="2171700" cy="586062"/>
          </a:xfrm>
          <a:prstGeom prst="rect">
            <a:avLst/>
          </a:prstGeom>
        </p:spPr>
      </p:pic>
      <p:sp>
        <p:nvSpPr>
          <p:cNvPr id="4" name="Main headline">
            <a:extLst>
              <a:ext uri="{FF2B5EF4-FFF2-40B4-BE49-F238E27FC236}">
                <a16:creationId xmlns:a16="http://schemas.microsoft.com/office/drawing/2014/main" id="{045745EA-7AB7-41B2-AD4A-341368DE08CE}"/>
              </a:ext>
            </a:extLst>
          </p:cNvPr>
          <p:cNvSpPr>
            <a:spLocks noGrp="1"/>
          </p:cNvSpPr>
          <p:nvPr/>
        </p:nvSpPr>
        <p:spPr>
          <a:xfrm>
            <a:off x="209550" y="933450"/>
            <a:ext cx="6696076" cy="600075"/>
          </a:xfrm>
          <a:prstGeom prst="rect">
            <a:avLst/>
          </a:prstGeom>
          <a:noFill/>
          <a:ln w="0">
            <a:noFill/>
          </a:ln>
        </p:spPr>
        <p:txBody>
          <a:bodyPr wrap="square" lIns="0" tIns="0" rIns="0" bIns="0" anchor="t">
            <a:noAutofit/>
          </a:bodyPr>
          <a:lstStyle/>
          <a:p>
            <a:pPr algn="l">
              <a:lnSpc>
                <a:spcPct val="100000"/>
              </a:lnSpc>
              <a:buNone/>
              <a:defRPr sz="3900" b="1">
                <a:solidFill>
                  <a:srgbClr val="111111"/>
                </a:solidFill>
                <a:latin typeface="Nimbus Sans Narrow"/>
                <a:ea typeface="Nimbus Sans Narrow"/>
                <a:cs typeface="Nimbus Sans Narrow"/>
              </a:defRPr>
            </a:pPr>
            <a:r>
              <a:rPr sz="3900" b="1" dirty="0">
                <a:solidFill>
                  <a:srgbClr val="111111"/>
                </a:solidFill>
                <a:latin typeface="Nimbus Sans Narrow"/>
                <a:ea typeface="Nimbus Sans Narrow"/>
                <a:cs typeface="Nimbus Sans Narrow"/>
              </a:rPr>
              <a:t>AI Vision for Smarter Inspection</a:t>
            </a:r>
          </a:p>
        </p:txBody>
      </p:sp>
      <p:sp>
        <p:nvSpPr>
          <p:cNvPr id="5" name="Learning subtitle">
            <a:extLst>
              <a:ext uri="{FF2B5EF4-FFF2-40B4-BE49-F238E27FC236}">
                <a16:creationId xmlns:a16="http://schemas.microsoft.com/office/drawing/2014/main" id="{18200C28-796C-4316-8482-CC909222ABDC}"/>
              </a:ext>
            </a:extLst>
          </p:cNvPr>
          <p:cNvSpPr>
            <a:spLocks noGrp="1"/>
          </p:cNvSpPr>
          <p:nvPr/>
        </p:nvSpPr>
        <p:spPr>
          <a:xfrm>
            <a:off x="219075" y="1600200"/>
            <a:ext cx="6477000" cy="428625"/>
          </a:xfrm>
          <a:prstGeom prst="rect">
            <a:avLst/>
          </a:prstGeom>
          <a:noFill/>
          <a:ln w="0">
            <a:noFill/>
          </a:ln>
        </p:spPr>
        <p:txBody>
          <a:bodyPr wrap="square" lIns="0" tIns="0" rIns="0" bIns="0" anchor="t">
            <a:noAutofit/>
          </a:bodyPr>
          <a:lstStyle/>
          <a:p>
            <a:pPr algn="l">
              <a:lnSpc>
                <a:spcPct val="100000"/>
              </a:lnSpc>
              <a:buNone/>
              <a:defRPr sz="2850" b="1">
                <a:solidFill>
                  <a:srgbClr val="808080"/>
                </a:solidFill>
                <a:latin typeface="Nimbus Sans Narrow"/>
                <a:ea typeface="Nimbus Sans Narrow"/>
                <a:cs typeface="Nimbus Sans Narrow"/>
              </a:defRPr>
            </a:pPr>
            <a:r>
              <a:rPr sz="2850" b="1" dirty="0">
                <a:solidFill>
                  <a:srgbClr val="808080"/>
                </a:solidFill>
                <a:latin typeface="Nimbus Sans Narrow"/>
                <a:ea typeface="Nimbus Sans Narrow"/>
                <a:cs typeface="Nimbus Sans Narrow"/>
              </a:rPr>
              <a:t>Self-Learning. Continuously Improving.</a:t>
            </a:r>
          </a:p>
        </p:txBody>
      </p:sp>
      <p:sp>
        <p:nvSpPr>
          <p:cNvPr id="6" name="Introductory paragraph">
            <a:extLst>
              <a:ext uri="{FF2B5EF4-FFF2-40B4-BE49-F238E27FC236}">
                <a16:creationId xmlns:a16="http://schemas.microsoft.com/office/drawing/2014/main" id="{EADFDC9F-5314-4149-8E18-5A25F790E52F}"/>
              </a:ext>
            </a:extLst>
          </p:cNvPr>
          <p:cNvSpPr>
            <a:spLocks noGrp="1"/>
          </p:cNvSpPr>
          <p:nvPr/>
        </p:nvSpPr>
        <p:spPr>
          <a:xfrm>
            <a:off x="228600" y="2143125"/>
            <a:ext cx="6334125" cy="1247775"/>
          </a:xfrm>
          <a:prstGeom prst="rect">
            <a:avLst/>
          </a:prstGeom>
          <a:noFill/>
          <a:ln w="0">
            <a:noFill/>
          </a:ln>
        </p:spPr>
        <p:txBody>
          <a:bodyPr wrap="square" lIns="0" tIns="0" rIns="0" bIns="0" anchor="t">
            <a:noAutofit/>
          </a:bodyPr>
          <a:lstStyle/>
          <a:p>
            <a:pPr algn="l">
              <a:lnSpc>
                <a:spcPct val="100000"/>
              </a:lnSpc>
              <a:buNone/>
              <a:defRPr sz="1725" b="0">
                <a:solidFill>
                  <a:srgbClr val="111111"/>
                </a:solidFill>
                <a:latin typeface="Nimbus Sans Narrow"/>
                <a:ea typeface="Nimbus Sans Narrow"/>
                <a:cs typeface="Nimbus Sans Narrow"/>
              </a:defRPr>
            </a:pPr>
            <a:r>
              <a:rPr lang="en-US" sz="1725" dirty="0">
                <a:solidFill>
                  <a:srgbClr val="111111"/>
                </a:solidFill>
                <a:latin typeface="Nimbus Sans Narrow"/>
                <a:ea typeface="Nimbus Sans Narrow"/>
                <a:cs typeface="Nimbus Sans Narrow"/>
              </a:rPr>
              <a:t>I</a:t>
            </a:r>
            <a:r>
              <a:rPr lang="en-US" altLang="zh-CN" sz="1725" dirty="0">
                <a:solidFill>
                  <a:srgbClr val="111111"/>
                </a:solidFill>
                <a:latin typeface="Nimbus Sans Narrow"/>
                <a:ea typeface="Nimbus Sans Narrow"/>
                <a:cs typeface="Nimbus Sans Narrow"/>
              </a:rPr>
              <a:t>ntelligent</a:t>
            </a:r>
            <a:r>
              <a:rPr sz="1725" b="0" dirty="0">
                <a:solidFill>
                  <a:srgbClr val="111111"/>
                </a:solidFill>
                <a:latin typeface="Nimbus Sans Narrow"/>
                <a:ea typeface="Nimbus Sans Narrow"/>
                <a:cs typeface="Nimbus Sans Narrow"/>
              </a:rPr>
              <a:t> cameras capture images in real time. The AI computing system converts the width, shape, shadow and color features of reed dents and yarns into comparable data. With </a:t>
            </a:r>
            <a:r>
              <a:rPr sz="1725" b="0">
                <a:solidFill>
                  <a:srgbClr val="111111"/>
                </a:solidFill>
                <a:latin typeface="Nimbus Sans Narrow"/>
                <a:ea typeface="Nimbus Sans Narrow"/>
                <a:cs typeface="Nimbus Sans Narrow"/>
              </a:rPr>
              <a:t>e</a:t>
            </a:r>
            <a:r>
              <a:rPr lang="en-US" sz="1725" b="0">
                <a:solidFill>
                  <a:srgbClr val="111111"/>
                </a:solidFill>
                <a:latin typeface="Nimbus Sans Narrow"/>
                <a:ea typeface="Nimbus Sans Narrow"/>
                <a:cs typeface="Nimbus Sans Narrow"/>
              </a:rPr>
              <a:t>ach</a:t>
            </a:r>
            <a:r>
              <a:rPr sz="1725" b="0">
                <a:solidFill>
                  <a:srgbClr val="111111"/>
                </a:solidFill>
                <a:latin typeface="Nimbus Sans Narrow"/>
                <a:ea typeface="Nimbus Sans Narrow"/>
                <a:cs typeface="Nimbus Sans Narrow"/>
              </a:rPr>
              <a:t> </a:t>
            </a:r>
            <a:r>
              <a:rPr sz="1725" b="0" dirty="0">
                <a:solidFill>
                  <a:srgbClr val="111111"/>
                </a:solidFill>
                <a:latin typeface="Nimbus Sans Narrow"/>
                <a:ea typeface="Nimbus Sans Narrow"/>
                <a:cs typeface="Nimbus Sans Narrow"/>
              </a:rPr>
              <a:t>warp yarn processed, the system learns and evolves, making each recognition and decision more accurate and better supported by data.</a:t>
            </a:r>
          </a:p>
        </p:txBody>
      </p:sp>
      <p:pic>
        <p:nvPicPr>
          <p:cNvPr id="96" name="图片 95"/>
          <p:cNvPicPr>
            <a:picLocks noChangeAspect="1"/>
          </p:cNvPicPr>
          <p:nvPr/>
        </p:nvPicPr>
        <p:blipFill>
          <a:blip r:embed="rId4"/>
          <a:stretch/>
        </p:blipFill>
        <p:spPr>
          <a:xfrm>
            <a:off x="6905625" y="704850"/>
            <a:ext cx="590550" cy="609600"/>
          </a:xfrm>
          <a:prstGeom prst="rect">
            <a:avLst/>
          </a:prstGeom>
        </p:spPr>
      </p:pic>
      <p:pic>
        <p:nvPicPr>
          <p:cNvPr id="97" name="图片 96"/>
          <p:cNvPicPr>
            <a:picLocks noChangeAspect="1"/>
          </p:cNvPicPr>
          <p:nvPr/>
        </p:nvPicPr>
        <p:blipFill>
          <a:blip r:embed="rId5"/>
          <a:stretch/>
        </p:blipFill>
        <p:spPr>
          <a:xfrm>
            <a:off x="8801100" y="704850"/>
            <a:ext cx="609600" cy="609600"/>
          </a:xfrm>
          <a:prstGeom prst="rect">
            <a:avLst/>
          </a:prstGeom>
        </p:spPr>
      </p:pic>
      <p:pic>
        <p:nvPicPr>
          <p:cNvPr id="98" name="图片 97"/>
          <p:cNvPicPr>
            <a:picLocks noChangeAspect="1"/>
          </p:cNvPicPr>
          <p:nvPr/>
        </p:nvPicPr>
        <p:blipFill>
          <a:blip r:embed="rId6"/>
          <a:stretch/>
        </p:blipFill>
        <p:spPr>
          <a:xfrm>
            <a:off x="10620375" y="704850"/>
            <a:ext cx="609600" cy="609600"/>
          </a:xfrm>
          <a:prstGeom prst="rect">
            <a:avLst/>
          </a:prstGeom>
        </p:spPr>
      </p:pic>
      <p:pic>
        <p:nvPicPr>
          <p:cNvPr id="99" name="图片 98"/>
          <p:cNvPicPr>
            <a:picLocks noChangeAspect="1"/>
          </p:cNvPicPr>
          <p:nvPr/>
        </p:nvPicPr>
        <p:blipFill>
          <a:blip r:embed="rId7"/>
          <a:stretch/>
        </p:blipFill>
        <p:spPr>
          <a:xfrm>
            <a:off x="12668250" y="704850"/>
            <a:ext cx="600075" cy="609600"/>
          </a:xfrm>
          <a:prstGeom prst="rect">
            <a:avLst/>
          </a:prstGeom>
        </p:spPr>
      </p:pic>
      <p:sp>
        <p:nvSpPr>
          <p:cNvPr id="11" name="Process label 0">
            <a:extLst>
              <a:ext uri="{FF2B5EF4-FFF2-40B4-BE49-F238E27FC236}">
                <a16:creationId xmlns:a16="http://schemas.microsoft.com/office/drawing/2014/main" id="{794AE440-8EC8-4304-B5F3-F8AF94D3AE08}"/>
              </a:ext>
            </a:extLst>
          </p:cNvPr>
          <p:cNvSpPr>
            <a:spLocks noGrp="1"/>
          </p:cNvSpPr>
          <p:nvPr/>
        </p:nvSpPr>
        <p:spPr>
          <a:xfrm>
            <a:off x="7572375" y="809625"/>
            <a:ext cx="838200" cy="466725"/>
          </a:xfrm>
          <a:prstGeom prst="rect">
            <a:avLst/>
          </a:prstGeom>
          <a:noFill/>
          <a:ln w="0">
            <a:noFill/>
          </a:ln>
        </p:spPr>
        <p:txBody>
          <a:bodyPr wrap="square" lIns="0" tIns="0" rIns="0" bIns="0" anchor="t">
            <a:noAutofit/>
          </a:bodyPr>
          <a:lstStyle/>
          <a:p>
            <a:pPr algn="l">
              <a:lnSpc>
                <a:spcPct val="100000"/>
              </a:lnSpc>
              <a:buNone/>
              <a:defRPr sz="1650" b="1">
                <a:solidFill>
                  <a:srgbClr val="111111"/>
                </a:solidFill>
                <a:latin typeface="Nimbus Sans Narrow"/>
                <a:ea typeface="Nimbus Sans Narrow"/>
                <a:cs typeface="Nimbus Sans Narrow"/>
              </a:defRPr>
            </a:pPr>
            <a:r>
              <a:rPr sz="1650" b="1">
                <a:solidFill>
                  <a:srgbClr val="111111"/>
                </a:solidFill>
                <a:latin typeface="Nimbus Sans Narrow"/>
                <a:ea typeface="Nimbus Sans Narrow"/>
                <a:cs typeface="Nimbus Sans Narrow"/>
              </a:rPr>
              <a:t>Image</a:t>
            </a:r>
          </a:p>
          <a:p>
            <a:pPr algn="l">
              <a:lnSpc>
                <a:spcPct val="100000"/>
              </a:lnSpc>
              <a:buNone/>
              <a:defRPr sz="1650" b="1">
                <a:solidFill>
                  <a:srgbClr val="111111"/>
                </a:solidFill>
                <a:latin typeface="Nimbus Sans Narrow"/>
                <a:ea typeface="Nimbus Sans Narrow"/>
                <a:cs typeface="Nimbus Sans Narrow"/>
              </a:defRPr>
            </a:pPr>
            <a:r>
              <a:rPr sz="1650" b="1">
                <a:solidFill>
                  <a:srgbClr val="111111"/>
                </a:solidFill>
                <a:latin typeface="Nimbus Sans Narrow"/>
                <a:ea typeface="Nimbus Sans Narrow"/>
                <a:cs typeface="Nimbus Sans Narrow"/>
              </a:rPr>
              <a:t>Capture</a:t>
            </a:r>
          </a:p>
        </p:txBody>
      </p:sp>
      <p:sp>
        <p:nvSpPr>
          <p:cNvPr id="12" name="Process label 1">
            <a:extLst>
              <a:ext uri="{FF2B5EF4-FFF2-40B4-BE49-F238E27FC236}">
                <a16:creationId xmlns:a16="http://schemas.microsoft.com/office/drawing/2014/main" id="{869D42C4-DE83-490D-B5A5-00FE396460B5}"/>
              </a:ext>
            </a:extLst>
          </p:cNvPr>
          <p:cNvSpPr>
            <a:spLocks noGrp="1"/>
          </p:cNvSpPr>
          <p:nvPr/>
        </p:nvSpPr>
        <p:spPr>
          <a:xfrm>
            <a:off x="9477375" y="809625"/>
            <a:ext cx="942975" cy="466725"/>
          </a:xfrm>
          <a:prstGeom prst="rect">
            <a:avLst/>
          </a:prstGeom>
          <a:noFill/>
          <a:ln w="0">
            <a:noFill/>
          </a:ln>
        </p:spPr>
        <p:txBody>
          <a:bodyPr wrap="square" lIns="0" tIns="0" rIns="0" bIns="0" anchor="t">
            <a:noAutofit/>
          </a:bodyPr>
          <a:lstStyle/>
          <a:p>
            <a:pPr algn="l">
              <a:lnSpc>
                <a:spcPct val="100000"/>
              </a:lnSpc>
              <a:buNone/>
              <a:defRPr sz="1650" b="1">
                <a:solidFill>
                  <a:srgbClr val="111111"/>
                </a:solidFill>
                <a:latin typeface="Nimbus Sans Narrow"/>
                <a:ea typeface="Nimbus Sans Narrow"/>
                <a:cs typeface="Nimbus Sans Narrow"/>
              </a:defRPr>
            </a:pPr>
            <a:r>
              <a:rPr sz="1650" b="1">
                <a:solidFill>
                  <a:srgbClr val="111111"/>
                </a:solidFill>
                <a:latin typeface="Nimbus Sans Narrow"/>
                <a:ea typeface="Nimbus Sans Narrow"/>
                <a:cs typeface="Nimbus Sans Narrow"/>
              </a:rPr>
              <a:t>Feature</a:t>
            </a:r>
          </a:p>
          <a:p>
            <a:pPr algn="l">
              <a:lnSpc>
                <a:spcPct val="100000"/>
              </a:lnSpc>
              <a:buNone/>
              <a:defRPr sz="1650" b="1">
                <a:solidFill>
                  <a:srgbClr val="111111"/>
                </a:solidFill>
                <a:latin typeface="Nimbus Sans Narrow"/>
                <a:ea typeface="Nimbus Sans Narrow"/>
                <a:cs typeface="Nimbus Sans Narrow"/>
              </a:defRPr>
            </a:pPr>
            <a:r>
              <a:rPr sz="1650" b="1">
                <a:solidFill>
                  <a:srgbClr val="111111"/>
                </a:solidFill>
                <a:latin typeface="Nimbus Sans Narrow"/>
                <a:ea typeface="Nimbus Sans Narrow"/>
                <a:cs typeface="Nimbus Sans Narrow"/>
              </a:rPr>
              <a:t>Extraction</a:t>
            </a:r>
          </a:p>
        </p:txBody>
      </p:sp>
      <p:sp>
        <p:nvSpPr>
          <p:cNvPr id="13" name="Process label 2">
            <a:extLst>
              <a:ext uri="{FF2B5EF4-FFF2-40B4-BE49-F238E27FC236}">
                <a16:creationId xmlns:a16="http://schemas.microsoft.com/office/drawing/2014/main" id="{55ABF5FA-B974-460A-826D-1DD9C08E7541}"/>
              </a:ext>
            </a:extLst>
          </p:cNvPr>
          <p:cNvSpPr>
            <a:spLocks noGrp="1"/>
          </p:cNvSpPr>
          <p:nvPr/>
        </p:nvSpPr>
        <p:spPr>
          <a:xfrm>
            <a:off x="11306175" y="809625"/>
            <a:ext cx="1238250" cy="466725"/>
          </a:xfrm>
          <a:prstGeom prst="rect">
            <a:avLst/>
          </a:prstGeom>
          <a:noFill/>
          <a:ln w="0">
            <a:noFill/>
          </a:ln>
        </p:spPr>
        <p:txBody>
          <a:bodyPr wrap="square" lIns="0" tIns="0" rIns="0" bIns="0" anchor="t">
            <a:noAutofit/>
          </a:bodyPr>
          <a:lstStyle/>
          <a:p>
            <a:pPr algn="l">
              <a:lnSpc>
                <a:spcPct val="100000"/>
              </a:lnSpc>
              <a:buNone/>
              <a:defRPr sz="1650" b="1">
                <a:solidFill>
                  <a:srgbClr val="111111"/>
                </a:solidFill>
                <a:latin typeface="Nimbus Sans Narrow"/>
                <a:ea typeface="Nimbus Sans Narrow"/>
                <a:cs typeface="Nimbus Sans Narrow"/>
              </a:defRPr>
            </a:pPr>
            <a:r>
              <a:rPr sz="1650" b="1">
                <a:solidFill>
                  <a:srgbClr val="111111"/>
                </a:solidFill>
                <a:latin typeface="Nimbus Sans Narrow"/>
                <a:ea typeface="Nimbus Sans Narrow"/>
                <a:cs typeface="Nimbus Sans Narrow"/>
              </a:rPr>
              <a:t>Data</a:t>
            </a:r>
          </a:p>
          <a:p>
            <a:pPr algn="l">
              <a:lnSpc>
                <a:spcPct val="100000"/>
              </a:lnSpc>
              <a:buNone/>
              <a:defRPr sz="1650" b="1">
                <a:solidFill>
                  <a:srgbClr val="111111"/>
                </a:solidFill>
                <a:latin typeface="Nimbus Sans Narrow"/>
                <a:ea typeface="Nimbus Sans Narrow"/>
                <a:cs typeface="Nimbus Sans Narrow"/>
              </a:defRPr>
            </a:pPr>
            <a:r>
              <a:rPr sz="1650" b="1">
                <a:solidFill>
                  <a:srgbClr val="111111"/>
                </a:solidFill>
                <a:latin typeface="Nimbus Sans Narrow"/>
                <a:ea typeface="Nimbus Sans Narrow"/>
                <a:cs typeface="Nimbus Sans Narrow"/>
              </a:rPr>
              <a:t>Comparison</a:t>
            </a:r>
          </a:p>
        </p:txBody>
      </p:sp>
      <p:sp>
        <p:nvSpPr>
          <p:cNvPr id="14" name="Process label 3">
            <a:extLst>
              <a:ext uri="{FF2B5EF4-FFF2-40B4-BE49-F238E27FC236}">
                <a16:creationId xmlns:a16="http://schemas.microsoft.com/office/drawing/2014/main" id="{1D359917-C837-46A1-89DC-12012734E5D6}"/>
              </a:ext>
            </a:extLst>
          </p:cNvPr>
          <p:cNvSpPr>
            <a:spLocks noGrp="1"/>
          </p:cNvSpPr>
          <p:nvPr/>
        </p:nvSpPr>
        <p:spPr>
          <a:xfrm>
            <a:off x="13335000" y="809625"/>
            <a:ext cx="933450" cy="466725"/>
          </a:xfrm>
          <a:prstGeom prst="rect">
            <a:avLst/>
          </a:prstGeom>
          <a:noFill/>
          <a:ln w="0">
            <a:noFill/>
          </a:ln>
        </p:spPr>
        <p:txBody>
          <a:bodyPr wrap="square" lIns="0" tIns="0" rIns="0" bIns="0" anchor="t">
            <a:noAutofit/>
          </a:bodyPr>
          <a:lstStyle/>
          <a:p>
            <a:pPr algn="l">
              <a:lnSpc>
                <a:spcPct val="100000"/>
              </a:lnSpc>
              <a:buNone/>
              <a:defRPr sz="1650" b="1">
                <a:solidFill>
                  <a:srgbClr val="111111"/>
                </a:solidFill>
                <a:latin typeface="Nimbus Sans Narrow"/>
                <a:ea typeface="Nimbus Sans Narrow"/>
                <a:cs typeface="Nimbus Sans Narrow"/>
              </a:defRPr>
            </a:pPr>
            <a:r>
              <a:rPr sz="1650" b="1">
                <a:solidFill>
                  <a:srgbClr val="111111"/>
                </a:solidFill>
                <a:latin typeface="Nimbus Sans Narrow"/>
                <a:ea typeface="Nimbus Sans Narrow"/>
                <a:cs typeface="Nimbus Sans Narrow"/>
              </a:rPr>
              <a:t>Decision &amp;</a:t>
            </a:r>
          </a:p>
          <a:p>
            <a:pPr algn="l">
              <a:lnSpc>
                <a:spcPct val="100000"/>
              </a:lnSpc>
              <a:buNone/>
              <a:defRPr sz="1650" b="1">
                <a:solidFill>
                  <a:srgbClr val="111111"/>
                </a:solidFill>
                <a:latin typeface="Nimbus Sans Narrow"/>
                <a:ea typeface="Nimbus Sans Narrow"/>
                <a:cs typeface="Nimbus Sans Narrow"/>
              </a:defRPr>
            </a:pPr>
            <a:r>
              <a:rPr sz="1650" b="1">
                <a:solidFill>
                  <a:srgbClr val="111111"/>
                </a:solidFill>
                <a:latin typeface="Nimbus Sans Narrow"/>
                <a:ea typeface="Nimbus Sans Narrow"/>
                <a:cs typeface="Nimbus Sans Narrow"/>
              </a:rPr>
              <a:t>Action</a:t>
            </a:r>
          </a:p>
        </p:txBody>
      </p:sp>
      <p:sp>
        <p:nvSpPr>
          <p:cNvPr id="15" name="Process arrow 0">
            <a:extLst>
              <a:ext uri="{FF2B5EF4-FFF2-40B4-BE49-F238E27FC236}">
                <a16:creationId xmlns:a16="http://schemas.microsoft.com/office/drawing/2014/main" id="{E6EF2E6F-BAE7-40EB-904A-322333289D83}"/>
              </a:ext>
            </a:extLst>
          </p:cNvPr>
          <p:cNvSpPr>
            <a:spLocks noGrp="1"/>
          </p:cNvSpPr>
          <p:nvPr/>
        </p:nvSpPr>
        <p:spPr>
          <a:xfrm>
            <a:off x="8401050" y="819150"/>
            <a:ext cx="352425" cy="381000"/>
          </a:xfrm>
          <a:prstGeom prst="rect">
            <a:avLst/>
          </a:prstGeom>
          <a:noFill/>
          <a:ln w="0">
            <a:noFill/>
          </a:ln>
        </p:spPr>
        <p:txBody>
          <a:bodyPr wrap="square" lIns="0" tIns="0" rIns="0" bIns="0" anchor="t">
            <a:noAutofit/>
          </a:bodyPr>
          <a:lstStyle/>
          <a:p>
            <a:pPr algn="l">
              <a:lnSpc>
                <a:spcPct val="100000"/>
              </a:lnSpc>
              <a:buNone/>
              <a:defRPr sz="2625" b="0">
                <a:solidFill>
                  <a:srgbClr val="E7A300"/>
                </a:solidFill>
                <a:latin typeface="Nimbus Sans Narrow"/>
                <a:ea typeface="Nimbus Sans Narrow"/>
                <a:cs typeface="Nimbus Sans Narrow"/>
              </a:defRPr>
            </a:pPr>
            <a:r>
              <a:rPr sz="2625" b="0">
                <a:solidFill>
                  <a:srgbClr val="E7A300"/>
                </a:solidFill>
                <a:latin typeface="Nimbus Sans Narrow"/>
                <a:ea typeface="Nimbus Sans Narrow"/>
                <a:cs typeface="Nimbus Sans Narrow"/>
              </a:rPr>
              <a:t>→</a:t>
            </a:r>
          </a:p>
        </p:txBody>
      </p:sp>
      <p:sp>
        <p:nvSpPr>
          <p:cNvPr id="16" name="Process arrow 1">
            <a:extLst>
              <a:ext uri="{FF2B5EF4-FFF2-40B4-BE49-F238E27FC236}">
                <a16:creationId xmlns:a16="http://schemas.microsoft.com/office/drawing/2014/main" id="{72590FD0-EF86-4BB3-9C10-8476EB8A453F}"/>
              </a:ext>
            </a:extLst>
          </p:cNvPr>
          <p:cNvSpPr>
            <a:spLocks noGrp="1"/>
          </p:cNvSpPr>
          <p:nvPr/>
        </p:nvSpPr>
        <p:spPr>
          <a:xfrm>
            <a:off x="10325100" y="819150"/>
            <a:ext cx="352425" cy="381000"/>
          </a:xfrm>
          <a:prstGeom prst="rect">
            <a:avLst/>
          </a:prstGeom>
          <a:noFill/>
          <a:ln w="0">
            <a:noFill/>
          </a:ln>
        </p:spPr>
        <p:txBody>
          <a:bodyPr wrap="square" lIns="0" tIns="0" rIns="0" bIns="0" anchor="t">
            <a:noAutofit/>
          </a:bodyPr>
          <a:lstStyle/>
          <a:p>
            <a:pPr algn="l">
              <a:lnSpc>
                <a:spcPct val="100000"/>
              </a:lnSpc>
              <a:buNone/>
              <a:defRPr sz="2625" b="0">
                <a:solidFill>
                  <a:srgbClr val="E7A300"/>
                </a:solidFill>
                <a:latin typeface="Nimbus Sans Narrow"/>
                <a:ea typeface="Nimbus Sans Narrow"/>
                <a:cs typeface="Nimbus Sans Narrow"/>
              </a:defRPr>
            </a:pPr>
            <a:r>
              <a:rPr sz="2625" b="0">
                <a:solidFill>
                  <a:srgbClr val="E7A300"/>
                </a:solidFill>
                <a:latin typeface="Nimbus Sans Narrow"/>
                <a:ea typeface="Nimbus Sans Narrow"/>
                <a:cs typeface="Nimbus Sans Narrow"/>
              </a:rPr>
              <a:t>→</a:t>
            </a:r>
          </a:p>
        </p:txBody>
      </p:sp>
      <p:sp>
        <p:nvSpPr>
          <p:cNvPr id="17" name="Process arrow 2">
            <a:extLst>
              <a:ext uri="{FF2B5EF4-FFF2-40B4-BE49-F238E27FC236}">
                <a16:creationId xmlns:a16="http://schemas.microsoft.com/office/drawing/2014/main" id="{63A1619E-B972-4DA6-9969-F35105ED4046}"/>
              </a:ext>
            </a:extLst>
          </p:cNvPr>
          <p:cNvSpPr>
            <a:spLocks noGrp="1"/>
          </p:cNvSpPr>
          <p:nvPr/>
        </p:nvSpPr>
        <p:spPr>
          <a:xfrm>
            <a:off x="12334875" y="819150"/>
            <a:ext cx="352425" cy="381000"/>
          </a:xfrm>
          <a:prstGeom prst="rect">
            <a:avLst/>
          </a:prstGeom>
          <a:noFill/>
          <a:ln w="0">
            <a:noFill/>
          </a:ln>
        </p:spPr>
        <p:txBody>
          <a:bodyPr wrap="square" lIns="0" tIns="0" rIns="0" bIns="0" anchor="t">
            <a:noAutofit/>
          </a:bodyPr>
          <a:lstStyle/>
          <a:p>
            <a:pPr algn="l">
              <a:lnSpc>
                <a:spcPct val="100000"/>
              </a:lnSpc>
              <a:buNone/>
              <a:defRPr sz="2625" b="0">
                <a:solidFill>
                  <a:srgbClr val="E7A300"/>
                </a:solidFill>
                <a:latin typeface="Nimbus Sans Narrow"/>
                <a:ea typeface="Nimbus Sans Narrow"/>
                <a:cs typeface="Nimbus Sans Narrow"/>
              </a:defRPr>
            </a:pPr>
            <a:r>
              <a:rPr sz="2625" b="0">
                <a:solidFill>
                  <a:srgbClr val="E7A300"/>
                </a:solidFill>
                <a:latin typeface="Nimbus Sans Narrow"/>
                <a:ea typeface="Nimbus Sans Narrow"/>
                <a:cs typeface="Nimbus Sans Narrow"/>
              </a:rPr>
              <a:t>→</a:t>
            </a:r>
          </a:p>
        </p:txBody>
      </p:sp>
      <p:pic>
        <p:nvPicPr>
          <p:cNvPr id="107" name="图片 106"/>
          <p:cNvPicPr>
            <a:picLocks noChangeAspect="1"/>
          </p:cNvPicPr>
          <p:nvPr/>
        </p:nvPicPr>
        <p:blipFill>
          <a:blip r:embed="rId8"/>
          <a:stretch/>
        </p:blipFill>
        <p:spPr>
          <a:xfrm>
            <a:off x="6810375" y="1371600"/>
            <a:ext cx="2257425" cy="1800225"/>
          </a:xfrm>
          <a:prstGeom prst="rect">
            <a:avLst/>
          </a:prstGeom>
        </p:spPr>
      </p:pic>
      <p:pic>
        <p:nvPicPr>
          <p:cNvPr id="108" name="图片 107"/>
          <p:cNvPicPr>
            <a:picLocks noChangeAspect="1"/>
          </p:cNvPicPr>
          <p:nvPr/>
        </p:nvPicPr>
        <p:blipFill>
          <a:blip r:embed="rId9"/>
          <a:stretch/>
        </p:blipFill>
        <p:spPr>
          <a:xfrm>
            <a:off x="9182100" y="1421606"/>
            <a:ext cx="2266950" cy="1700213"/>
          </a:xfrm>
          <a:prstGeom prst="rect">
            <a:avLst/>
          </a:prstGeom>
        </p:spPr>
      </p:pic>
      <p:pic>
        <p:nvPicPr>
          <p:cNvPr id="109" name="图片 108"/>
          <p:cNvPicPr>
            <a:picLocks noChangeAspect="1"/>
          </p:cNvPicPr>
          <p:nvPr/>
        </p:nvPicPr>
        <p:blipFill>
          <a:blip r:embed="rId10"/>
          <a:stretch/>
        </p:blipFill>
        <p:spPr>
          <a:xfrm>
            <a:off x="11641863" y="1371600"/>
            <a:ext cx="2414725" cy="1800225"/>
          </a:xfrm>
          <a:prstGeom prst="rect">
            <a:avLst/>
          </a:prstGeom>
        </p:spPr>
      </p:pic>
      <p:sp>
        <p:nvSpPr>
          <p:cNvPr id="21" name="Screenshot caption gold 0">
            <a:extLst>
              <a:ext uri="{FF2B5EF4-FFF2-40B4-BE49-F238E27FC236}">
                <a16:creationId xmlns:a16="http://schemas.microsoft.com/office/drawing/2014/main" id="{92DE1788-6133-4CD7-858E-3868BA75F9A6}"/>
              </a:ext>
            </a:extLst>
          </p:cNvPr>
          <p:cNvSpPr>
            <a:spLocks noGrp="1"/>
          </p:cNvSpPr>
          <p:nvPr/>
        </p:nvSpPr>
        <p:spPr>
          <a:xfrm>
            <a:off x="6838950" y="3209925"/>
            <a:ext cx="2171700" cy="285750"/>
          </a:xfrm>
          <a:prstGeom prst="roundRect">
            <a:avLst>
              <a:gd name="adj" fmla="val 50000"/>
            </a:avLst>
          </a:prstGeom>
          <a:solidFill>
            <a:srgbClr val="EDB01D"/>
          </a:solidFill>
          <a:ln w="0">
            <a:noFill/>
          </a:ln>
        </p:spPr>
        <p:txBody>
          <a:bodyPr/>
          <a:lstStyle/>
          <a:p>
            <a:endParaRPr lang="zh-CN" altLang="en-US"/>
          </a:p>
        </p:txBody>
      </p:sp>
      <p:sp>
        <p:nvSpPr>
          <p:cNvPr id="22" name="Screenshot caption 0">
            <a:extLst>
              <a:ext uri="{FF2B5EF4-FFF2-40B4-BE49-F238E27FC236}">
                <a16:creationId xmlns:a16="http://schemas.microsoft.com/office/drawing/2014/main" id="{1DDCB0BC-E459-4883-BC32-8A74C146F144}"/>
              </a:ext>
            </a:extLst>
          </p:cNvPr>
          <p:cNvSpPr>
            <a:spLocks noGrp="1"/>
          </p:cNvSpPr>
          <p:nvPr/>
        </p:nvSpPr>
        <p:spPr>
          <a:xfrm>
            <a:off x="6877050" y="3257550"/>
            <a:ext cx="2095500" cy="228600"/>
          </a:xfrm>
          <a:prstGeom prst="rect">
            <a:avLst/>
          </a:prstGeom>
          <a:noFill/>
          <a:ln w="0">
            <a:noFill/>
          </a:ln>
        </p:spPr>
        <p:txBody>
          <a:bodyPr wrap="square" lIns="0" tIns="0" rIns="0" bIns="0" anchor="t">
            <a:noAutofit/>
          </a:bodyPr>
          <a:lstStyle/>
          <a:p>
            <a:pPr algn="ctr">
              <a:lnSpc>
                <a:spcPct val="100000"/>
              </a:lnSpc>
              <a:buNone/>
              <a:defRPr sz="1200" b="1">
                <a:solidFill>
                  <a:srgbClr val="111111"/>
                </a:solidFill>
                <a:latin typeface="Nimbus Sans Narrow"/>
                <a:ea typeface="Nimbus Sans Narrow"/>
                <a:cs typeface="Nimbus Sans Narrow"/>
              </a:defRPr>
            </a:pPr>
            <a:r>
              <a:rPr sz="1200" b="1">
                <a:solidFill>
                  <a:srgbClr val="111111"/>
                </a:solidFill>
                <a:latin typeface="Nimbus Sans Narrow"/>
                <a:ea typeface="Nimbus Sans Narrow"/>
                <a:cs typeface="Nimbus Sans Narrow"/>
              </a:rPr>
              <a:t>Reed Dent Recognition Interface</a:t>
            </a:r>
          </a:p>
        </p:txBody>
      </p:sp>
      <p:sp>
        <p:nvSpPr>
          <p:cNvPr id="23" name="Screenshot caption gold 1">
            <a:extLst>
              <a:ext uri="{FF2B5EF4-FFF2-40B4-BE49-F238E27FC236}">
                <a16:creationId xmlns:a16="http://schemas.microsoft.com/office/drawing/2014/main" id="{1D42E881-A731-4B55-94BD-4AF1802EE4E2}"/>
              </a:ext>
            </a:extLst>
          </p:cNvPr>
          <p:cNvSpPr>
            <a:spLocks noGrp="1"/>
          </p:cNvSpPr>
          <p:nvPr/>
        </p:nvSpPr>
        <p:spPr>
          <a:xfrm>
            <a:off x="9267825" y="3209925"/>
            <a:ext cx="2114550" cy="285750"/>
          </a:xfrm>
          <a:prstGeom prst="roundRect">
            <a:avLst>
              <a:gd name="adj" fmla="val 50000"/>
            </a:avLst>
          </a:prstGeom>
          <a:solidFill>
            <a:srgbClr val="EDB01D"/>
          </a:solidFill>
          <a:ln w="0">
            <a:noFill/>
          </a:ln>
        </p:spPr>
        <p:txBody>
          <a:bodyPr/>
          <a:lstStyle/>
          <a:p>
            <a:endParaRPr lang="zh-CN" altLang="en-US"/>
          </a:p>
        </p:txBody>
      </p:sp>
      <p:sp>
        <p:nvSpPr>
          <p:cNvPr id="24" name="Screenshot caption 1">
            <a:extLst>
              <a:ext uri="{FF2B5EF4-FFF2-40B4-BE49-F238E27FC236}">
                <a16:creationId xmlns:a16="http://schemas.microsoft.com/office/drawing/2014/main" id="{F5A8CA07-162F-4C7B-8870-B3E1EFE3E463}"/>
              </a:ext>
            </a:extLst>
          </p:cNvPr>
          <p:cNvSpPr>
            <a:spLocks noGrp="1"/>
          </p:cNvSpPr>
          <p:nvPr/>
        </p:nvSpPr>
        <p:spPr>
          <a:xfrm>
            <a:off x="9305925" y="3257550"/>
            <a:ext cx="2038350" cy="228600"/>
          </a:xfrm>
          <a:prstGeom prst="rect">
            <a:avLst/>
          </a:prstGeom>
          <a:noFill/>
          <a:ln w="0">
            <a:noFill/>
          </a:ln>
        </p:spPr>
        <p:txBody>
          <a:bodyPr wrap="square" lIns="0" tIns="0" rIns="0" bIns="0" anchor="t">
            <a:noAutofit/>
          </a:bodyPr>
          <a:lstStyle/>
          <a:p>
            <a:pPr algn="ctr">
              <a:lnSpc>
                <a:spcPct val="100000"/>
              </a:lnSpc>
              <a:buNone/>
              <a:defRPr sz="1200" b="1">
                <a:solidFill>
                  <a:srgbClr val="111111"/>
                </a:solidFill>
                <a:latin typeface="Nimbus Sans Narrow"/>
                <a:ea typeface="Nimbus Sans Narrow"/>
                <a:cs typeface="Nimbus Sans Narrow"/>
              </a:defRPr>
            </a:pPr>
            <a:r>
              <a:rPr sz="1200" b="1">
                <a:solidFill>
                  <a:srgbClr val="111111"/>
                </a:solidFill>
                <a:latin typeface="Nimbus Sans Narrow"/>
                <a:ea typeface="Nimbus Sans Narrow"/>
                <a:cs typeface="Nimbus Sans Narrow"/>
              </a:rPr>
              <a:t>Single-Yarn Analysis Interface</a:t>
            </a:r>
          </a:p>
        </p:txBody>
      </p:sp>
      <p:sp>
        <p:nvSpPr>
          <p:cNvPr id="25" name="Screenshot caption gold 2">
            <a:extLst>
              <a:ext uri="{FF2B5EF4-FFF2-40B4-BE49-F238E27FC236}">
                <a16:creationId xmlns:a16="http://schemas.microsoft.com/office/drawing/2014/main" id="{6829FDC9-33A0-46F6-9B76-4907685117B6}"/>
              </a:ext>
            </a:extLst>
          </p:cNvPr>
          <p:cNvSpPr>
            <a:spLocks noGrp="1"/>
          </p:cNvSpPr>
          <p:nvPr/>
        </p:nvSpPr>
        <p:spPr>
          <a:xfrm>
            <a:off x="11734800" y="3209925"/>
            <a:ext cx="2171700" cy="285750"/>
          </a:xfrm>
          <a:prstGeom prst="roundRect">
            <a:avLst>
              <a:gd name="adj" fmla="val 50000"/>
            </a:avLst>
          </a:prstGeom>
          <a:solidFill>
            <a:srgbClr val="EDB01D"/>
          </a:solidFill>
          <a:ln w="0">
            <a:noFill/>
          </a:ln>
        </p:spPr>
        <p:txBody>
          <a:bodyPr/>
          <a:lstStyle/>
          <a:p>
            <a:endParaRPr lang="zh-CN" altLang="en-US"/>
          </a:p>
        </p:txBody>
      </p:sp>
      <p:sp>
        <p:nvSpPr>
          <p:cNvPr id="26" name="Screenshot caption 2">
            <a:extLst>
              <a:ext uri="{FF2B5EF4-FFF2-40B4-BE49-F238E27FC236}">
                <a16:creationId xmlns:a16="http://schemas.microsoft.com/office/drawing/2014/main" id="{FCD1C543-2993-4990-AC61-380026BAC77B}"/>
              </a:ext>
            </a:extLst>
          </p:cNvPr>
          <p:cNvSpPr>
            <a:spLocks noGrp="1"/>
          </p:cNvSpPr>
          <p:nvPr/>
        </p:nvSpPr>
        <p:spPr>
          <a:xfrm>
            <a:off x="11772900" y="3257550"/>
            <a:ext cx="2095500" cy="228600"/>
          </a:xfrm>
          <a:prstGeom prst="rect">
            <a:avLst/>
          </a:prstGeom>
          <a:noFill/>
          <a:ln w="0">
            <a:noFill/>
          </a:ln>
        </p:spPr>
        <p:txBody>
          <a:bodyPr wrap="square" lIns="0" tIns="0" rIns="0" bIns="0" anchor="t">
            <a:noAutofit/>
          </a:bodyPr>
          <a:lstStyle/>
          <a:p>
            <a:pPr algn="ctr">
              <a:lnSpc>
                <a:spcPct val="100000"/>
              </a:lnSpc>
              <a:buNone/>
              <a:defRPr sz="1200" b="1">
                <a:solidFill>
                  <a:srgbClr val="111111"/>
                </a:solidFill>
                <a:latin typeface="Nimbus Sans Narrow"/>
                <a:ea typeface="Nimbus Sans Narrow"/>
                <a:cs typeface="Nimbus Sans Narrow"/>
              </a:defRPr>
            </a:pPr>
            <a:r>
              <a:rPr sz="1200" b="1">
                <a:solidFill>
                  <a:srgbClr val="111111"/>
                </a:solidFill>
                <a:latin typeface="Nimbus Sans Narrow"/>
                <a:ea typeface="Nimbus Sans Narrow"/>
                <a:cs typeface="Nimbus Sans Narrow"/>
              </a:rPr>
              <a:t>Color Pattern Editor</a:t>
            </a:r>
          </a:p>
        </p:txBody>
      </p:sp>
      <p:sp>
        <p:nvSpPr>
          <p:cNvPr id="27" name="Card outline 0">
            <a:extLst>
              <a:ext uri="{FF2B5EF4-FFF2-40B4-BE49-F238E27FC236}">
                <a16:creationId xmlns:a16="http://schemas.microsoft.com/office/drawing/2014/main" id="{FF80475C-D72D-4E5D-AA24-DC70083923C9}"/>
              </a:ext>
            </a:extLst>
          </p:cNvPr>
          <p:cNvSpPr>
            <a:spLocks noGrp="1"/>
          </p:cNvSpPr>
          <p:nvPr/>
        </p:nvSpPr>
        <p:spPr>
          <a:xfrm>
            <a:off x="190500" y="3562350"/>
            <a:ext cx="4514850" cy="4191000"/>
          </a:xfrm>
          <a:prstGeom prst="roundRect">
            <a:avLst>
              <a:gd name="adj" fmla="val 1818"/>
            </a:avLst>
          </a:prstGeom>
          <a:solidFill>
            <a:srgbClr val="FFFFFF"/>
          </a:solidFill>
          <a:ln w="9525">
            <a:solidFill>
              <a:srgbClr val="BCE4F1"/>
            </a:solidFill>
          </a:ln>
        </p:spPr>
        <p:txBody>
          <a:bodyPr/>
          <a:lstStyle/>
          <a:p>
            <a:endParaRPr lang="zh-CN" altLang="en-US"/>
          </a:p>
        </p:txBody>
      </p:sp>
      <p:pic>
        <p:nvPicPr>
          <p:cNvPr id="117" name="图片 116"/>
          <p:cNvPicPr>
            <a:picLocks noChangeAspect="1"/>
          </p:cNvPicPr>
          <p:nvPr/>
        </p:nvPicPr>
        <p:blipFill>
          <a:blip r:embed="rId11"/>
          <a:stretch/>
        </p:blipFill>
        <p:spPr>
          <a:xfrm>
            <a:off x="200025" y="3571875"/>
            <a:ext cx="4495800" cy="1028700"/>
          </a:xfrm>
          <a:prstGeom prst="rect">
            <a:avLst/>
          </a:prstGeom>
        </p:spPr>
      </p:pic>
      <p:sp>
        <p:nvSpPr>
          <p:cNvPr id="29" name="Number badge 0">
            <a:extLst>
              <a:ext uri="{FF2B5EF4-FFF2-40B4-BE49-F238E27FC236}">
                <a16:creationId xmlns:a16="http://schemas.microsoft.com/office/drawing/2014/main" id="{F80E15ED-0488-4957-B09A-1FC8025256C1}"/>
              </a:ext>
            </a:extLst>
          </p:cNvPr>
          <p:cNvSpPr>
            <a:spLocks noGrp="1"/>
          </p:cNvSpPr>
          <p:nvPr/>
        </p:nvSpPr>
        <p:spPr>
          <a:xfrm>
            <a:off x="228600" y="3648075"/>
            <a:ext cx="628650" cy="628650"/>
          </a:xfrm>
          <a:prstGeom prst="ellipse">
            <a:avLst/>
          </a:prstGeom>
          <a:solidFill>
            <a:srgbClr val="E8AD20"/>
          </a:solidFill>
          <a:ln w="28575">
            <a:solidFill>
              <a:srgbClr val="FFFFFF"/>
            </a:solidFill>
          </a:ln>
        </p:spPr>
        <p:txBody>
          <a:bodyPr/>
          <a:lstStyle/>
          <a:p>
            <a:endParaRPr lang="zh-CN" altLang="en-US"/>
          </a:p>
        </p:txBody>
      </p:sp>
      <p:sp>
        <p:nvSpPr>
          <p:cNvPr id="30" name="Card number 0">
            <a:extLst>
              <a:ext uri="{FF2B5EF4-FFF2-40B4-BE49-F238E27FC236}">
                <a16:creationId xmlns:a16="http://schemas.microsoft.com/office/drawing/2014/main" id="{96C551CA-D8E8-4816-95D2-EEE22017570E}"/>
              </a:ext>
            </a:extLst>
          </p:cNvPr>
          <p:cNvSpPr>
            <a:spLocks noGrp="1"/>
          </p:cNvSpPr>
          <p:nvPr/>
        </p:nvSpPr>
        <p:spPr>
          <a:xfrm>
            <a:off x="238125" y="3733800"/>
            <a:ext cx="552450" cy="466725"/>
          </a:xfrm>
          <a:prstGeom prst="rect">
            <a:avLst/>
          </a:prstGeom>
          <a:noFill/>
          <a:ln w="0">
            <a:noFill/>
          </a:ln>
        </p:spPr>
        <p:txBody>
          <a:bodyPr wrap="square" lIns="0" tIns="0" rIns="0" bIns="0" anchor="t">
            <a:noAutofit/>
          </a:bodyPr>
          <a:lstStyle/>
          <a:p>
            <a:pPr algn="ctr">
              <a:lnSpc>
                <a:spcPct val="100000"/>
              </a:lnSpc>
              <a:buNone/>
              <a:defRPr sz="2925" b="1">
                <a:solidFill>
                  <a:srgbClr val="FFFFFF"/>
                </a:solidFill>
                <a:latin typeface="Nimbus Sans Narrow"/>
                <a:ea typeface="Nimbus Sans Narrow"/>
                <a:cs typeface="Nimbus Sans Narrow"/>
              </a:defRPr>
            </a:pPr>
            <a:r>
              <a:rPr sz="2925" b="1">
                <a:solidFill>
                  <a:srgbClr val="FFFFFF"/>
                </a:solidFill>
                <a:latin typeface="Nimbus Sans Narrow"/>
                <a:ea typeface="Nimbus Sans Narrow"/>
                <a:cs typeface="Nimbus Sans Narrow"/>
              </a:rPr>
              <a:t>01</a:t>
            </a:r>
          </a:p>
        </p:txBody>
      </p:sp>
      <p:sp>
        <p:nvSpPr>
          <p:cNvPr id="31" name="Card title 0">
            <a:extLst>
              <a:ext uri="{FF2B5EF4-FFF2-40B4-BE49-F238E27FC236}">
                <a16:creationId xmlns:a16="http://schemas.microsoft.com/office/drawing/2014/main" id="{151F55AF-5F44-4B76-ABE0-1E8AD3329F57}"/>
              </a:ext>
            </a:extLst>
          </p:cNvPr>
          <p:cNvSpPr>
            <a:spLocks noGrp="1"/>
          </p:cNvSpPr>
          <p:nvPr/>
        </p:nvSpPr>
        <p:spPr>
          <a:xfrm>
            <a:off x="381000" y="4695825"/>
            <a:ext cx="4181475" cy="400050"/>
          </a:xfrm>
          <a:prstGeom prst="rect">
            <a:avLst/>
          </a:prstGeom>
          <a:noFill/>
          <a:ln w="0">
            <a:noFill/>
          </a:ln>
        </p:spPr>
        <p:txBody>
          <a:bodyPr wrap="square" lIns="0" tIns="0" rIns="0" bIns="0" anchor="t">
            <a:noAutofit/>
          </a:bodyPr>
          <a:lstStyle/>
          <a:p>
            <a:pPr algn="l">
              <a:lnSpc>
                <a:spcPct val="100000"/>
              </a:lnSpc>
              <a:buNone/>
              <a:defRPr sz="2775" b="1">
                <a:solidFill>
                  <a:srgbClr val="111111"/>
                </a:solidFill>
                <a:latin typeface="Nimbus Sans Narrow"/>
                <a:ea typeface="Nimbus Sans Narrow"/>
                <a:cs typeface="Nimbus Sans Narrow"/>
              </a:defRPr>
            </a:pPr>
            <a:r>
              <a:rPr sz="2775" b="1">
                <a:solidFill>
                  <a:srgbClr val="111111"/>
                </a:solidFill>
                <a:latin typeface="Nimbus Sans Narrow"/>
                <a:ea typeface="Nimbus Sans Narrow"/>
                <a:cs typeface="Nimbus Sans Narrow"/>
              </a:rPr>
              <a:t>AI Reed Positioning</a:t>
            </a:r>
          </a:p>
        </p:txBody>
      </p:sp>
      <p:sp>
        <p:nvSpPr>
          <p:cNvPr id="32" name="Card subtitle 0">
            <a:extLst>
              <a:ext uri="{FF2B5EF4-FFF2-40B4-BE49-F238E27FC236}">
                <a16:creationId xmlns:a16="http://schemas.microsoft.com/office/drawing/2014/main" id="{52E53E56-BA3E-45EF-8FB6-A23D3FDD487B}"/>
              </a:ext>
            </a:extLst>
          </p:cNvPr>
          <p:cNvSpPr>
            <a:spLocks noGrp="1"/>
          </p:cNvSpPr>
          <p:nvPr/>
        </p:nvSpPr>
        <p:spPr>
          <a:xfrm>
            <a:off x="381000" y="5095875"/>
            <a:ext cx="4191000" cy="495300"/>
          </a:xfrm>
          <a:prstGeom prst="rect">
            <a:avLst/>
          </a:prstGeom>
          <a:noFill/>
          <a:ln w="0">
            <a:noFill/>
          </a:ln>
        </p:spPr>
        <p:txBody>
          <a:bodyPr wrap="square" lIns="0" tIns="0" rIns="0" bIns="0" anchor="t">
            <a:noAutofit/>
          </a:bodyPr>
          <a:lstStyle/>
          <a:p>
            <a:pPr algn="l">
              <a:lnSpc>
                <a:spcPct val="100000"/>
              </a:lnSpc>
              <a:buNone/>
              <a:defRPr sz="1875" b="1">
                <a:solidFill>
                  <a:srgbClr val="808080"/>
                </a:solidFill>
                <a:latin typeface="Nimbus Sans Narrow"/>
                <a:ea typeface="Nimbus Sans Narrow"/>
                <a:cs typeface="Nimbus Sans Narrow"/>
              </a:defRPr>
            </a:pPr>
            <a:r>
              <a:rPr sz="1875" b="1">
                <a:solidFill>
                  <a:srgbClr val="808080"/>
                </a:solidFill>
                <a:latin typeface="Nimbus Sans Narrow"/>
                <a:ea typeface="Nimbus Sans Narrow"/>
                <a:cs typeface="Nimbus Sans Narrow"/>
              </a:rPr>
              <a:t>Automatic Reed Count Recognition</a:t>
            </a:r>
          </a:p>
          <a:p>
            <a:pPr algn="l">
              <a:lnSpc>
                <a:spcPct val="100000"/>
              </a:lnSpc>
              <a:buNone/>
              <a:defRPr sz="1875" b="1">
                <a:solidFill>
                  <a:srgbClr val="808080"/>
                </a:solidFill>
                <a:latin typeface="Nimbus Sans Narrow"/>
                <a:ea typeface="Nimbus Sans Narrow"/>
                <a:cs typeface="Nimbus Sans Narrow"/>
              </a:defRPr>
            </a:pPr>
            <a:r>
              <a:rPr sz="1875" b="1">
                <a:solidFill>
                  <a:srgbClr val="808080"/>
                </a:solidFill>
                <a:latin typeface="Nimbus Sans Narrow"/>
                <a:ea typeface="Nimbus Sans Narrow"/>
                <a:cs typeface="Nimbus Sans Narrow"/>
              </a:rPr>
              <a:t>for High-Density Reeds</a:t>
            </a:r>
          </a:p>
        </p:txBody>
      </p:sp>
      <p:sp>
        <p:nvSpPr>
          <p:cNvPr id="33" name="Card explanation 0">
            <a:extLst>
              <a:ext uri="{FF2B5EF4-FFF2-40B4-BE49-F238E27FC236}">
                <a16:creationId xmlns:a16="http://schemas.microsoft.com/office/drawing/2014/main" id="{DF3DFE89-EF54-4D21-8BCE-A674110A0BD9}"/>
              </a:ext>
            </a:extLst>
          </p:cNvPr>
          <p:cNvSpPr>
            <a:spLocks noGrp="1"/>
          </p:cNvSpPr>
          <p:nvPr/>
        </p:nvSpPr>
        <p:spPr>
          <a:xfrm>
            <a:off x="381000" y="5638800"/>
            <a:ext cx="4162425" cy="504825"/>
          </a:xfrm>
          <a:prstGeom prst="rect">
            <a:avLst/>
          </a:prstGeom>
          <a:noFill/>
          <a:ln w="0">
            <a:noFill/>
          </a:ln>
        </p:spPr>
        <p:txBody>
          <a:bodyPr wrap="square" lIns="0" tIns="0" rIns="0" bIns="0" anchor="t">
            <a:noAutofit/>
          </a:bodyPr>
          <a:lstStyle/>
          <a:p>
            <a:pPr algn="l">
              <a:lnSpc>
                <a:spcPct val="100000"/>
              </a:lnSpc>
              <a:buNone/>
              <a:defRPr sz="1575" b="0">
                <a:solidFill>
                  <a:srgbClr val="111111"/>
                </a:solidFill>
                <a:latin typeface="Nimbus Sans Narrow"/>
                <a:ea typeface="Nimbus Sans Narrow"/>
                <a:cs typeface="Nimbus Sans Narrow"/>
              </a:defRPr>
            </a:pPr>
            <a:r>
              <a:rPr sz="1575" b="0">
                <a:solidFill>
                  <a:srgbClr val="111111"/>
                </a:solidFill>
                <a:latin typeface="Nimbus Sans Narrow"/>
                <a:ea typeface="Nimbus Sans Narrow"/>
                <a:cs typeface="Nimbus Sans Narrow"/>
              </a:rPr>
              <a:t>Precisely locates reed dents to ensure efficient, reliable drawing-in through the reed.</a:t>
            </a:r>
          </a:p>
        </p:txBody>
      </p:sp>
      <p:sp>
        <p:nvSpPr>
          <p:cNvPr id="34" name="Performance background 0">
            <a:extLst>
              <a:ext uri="{FF2B5EF4-FFF2-40B4-BE49-F238E27FC236}">
                <a16:creationId xmlns:a16="http://schemas.microsoft.com/office/drawing/2014/main" id="{7FB4A281-88CF-4AB4-B8A7-8FBE7583A5C7}"/>
              </a:ext>
            </a:extLst>
          </p:cNvPr>
          <p:cNvSpPr>
            <a:spLocks noGrp="1"/>
          </p:cNvSpPr>
          <p:nvPr/>
        </p:nvSpPr>
        <p:spPr>
          <a:xfrm>
            <a:off x="314325" y="6143625"/>
            <a:ext cx="4267200" cy="800100"/>
          </a:xfrm>
          <a:prstGeom prst="roundRect">
            <a:avLst>
              <a:gd name="adj" fmla="val 11905"/>
            </a:avLst>
          </a:prstGeom>
          <a:solidFill>
            <a:srgbClr val="FBF6EB"/>
          </a:solidFill>
          <a:ln w="0">
            <a:noFill/>
          </a:ln>
        </p:spPr>
        <p:txBody>
          <a:bodyPr/>
          <a:lstStyle/>
          <a:p>
            <a:endParaRPr lang="zh-CN" altLang="en-US"/>
          </a:p>
        </p:txBody>
      </p:sp>
      <p:sp>
        <p:nvSpPr>
          <p:cNvPr id="35" name="Performance label 0">
            <a:extLst>
              <a:ext uri="{FF2B5EF4-FFF2-40B4-BE49-F238E27FC236}">
                <a16:creationId xmlns:a16="http://schemas.microsoft.com/office/drawing/2014/main" id="{1D4784CD-319D-449B-8951-3D863670A603}"/>
              </a:ext>
            </a:extLst>
          </p:cNvPr>
          <p:cNvSpPr>
            <a:spLocks noGrp="1"/>
          </p:cNvSpPr>
          <p:nvPr/>
        </p:nvSpPr>
        <p:spPr>
          <a:xfrm>
            <a:off x="447675" y="6181725"/>
            <a:ext cx="4057650" cy="276225"/>
          </a:xfrm>
          <a:prstGeom prst="rect">
            <a:avLst/>
          </a:prstGeom>
          <a:noFill/>
          <a:ln w="0">
            <a:noFill/>
          </a:ln>
        </p:spPr>
        <p:txBody>
          <a:bodyPr wrap="square" lIns="0" tIns="0" rIns="0" bIns="0" anchor="t">
            <a:noAutofit/>
          </a:bodyPr>
          <a:lstStyle/>
          <a:p>
            <a:pPr algn="l">
              <a:lnSpc>
                <a:spcPct val="100000"/>
              </a:lnSpc>
              <a:buNone/>
              <a:defRPr sz="1950" b="1">
                <a:solidFill>
                  <a:srgbClr val="111111"/>
                </a:solidFill>
                <a:latin typeface="Nimbus Sans Narrow"/>
                <a:ea typeface="Nimbus Sans Narrow"/>
                <a:cs typeface="Nimbus Sans Narrow"/>
              </a:defRPr>
            </a:pPr>
            <a:r>
              <a:rPr sz="1950" b="1">
                <a:solidFill>
                  <a:srgbClr val="111111"/>
                </a:solidFill>
                <a:latin typeface="Nimbus Sans Narrow"/>
                <a:ea typeface="Nimbus Sans Narrow"/>
                <a:cs typeface="Nimbus Sans Narrow"/>
              </a:rPr>
              <a:t>Performance</a:t>
            </a:r>
          </a:p>
        </p:txBody>
      </p:sp>
      <p:sp>
        <p:nvSpPr>
          <p:cNvPr id="36" name="Performance detail 0">
            <a:extLst>
              <a:ext uri="{FF2B5EF4-FFF2-40B4-BE49-F238E27FC236}">
                <a16:creationId xmlns:a16="http://schemas.microsoft.com/office/drawing/2014/main" id="{8B08F967-C444-4663-BC94-FBCEDEA5414F}"/>
              </a:ext>
            </a:extLst>
          </p:cNvPr>
          <p:cNvSpPr>
            <a:spLocks noGrp="1"/>
          </p:cNvSpPr>
          <p:nvPr/>
        </p:nvSpPr>
        <p:spPr>
          <a:xfrm>
            <a:off x="447675" y="6477000"/>
            <a:ext cx="4057650" cy="457200"/>
          </a:xfrm>
          <a:prstGeom prst="rect">
            <a:avLst/>
          </a:prstGeom>
          <a:noFill/>
          <a:ln w="0">
            <a:noFill/>
          </a:ln>
        </p:spPr>
        <p:txBody>
          <a:bodyPr wrap="square" lIns="0" tIns="0" rIns="0" bIns="0" anchor="t">
            <a:noAutofit/>
          </a:bodyPr>
          <a:lstStyle/>
          <a:p>
            <a:pPr algn="l">
              <a:lnSpc>
                <a:spcPct val="100000"/>
              </a:lnSpc>
              <a:buNone/>
              <a:defRPr sz="1425" b="0">
                <a:solidFill>
                  <a:srgbClr val="111111"/>
                </a:solidFill>
                <a:latin typeface="Nimbus Sans Narrow"/>
                <a:ea typeface="Nimbus Sans Narrow"/>
                <a:cs typeface="Nimbus Sans Narrow"/>
              </a:defRPr>
            </a:pPr>
            <a:r>
              <a:rPr sz="1425" b="0">
                <a:solidFill>
                  <a:srgbClr val="111111"/>
                </a:solidFill>
                <a:latin typeface="Nimbus Sans Narrow"/>
                <a:ea typeface="Nimbus Sans Narrow"/>
                <a:cs typeface="Nimbus Sans Narrow"/>
              </a:rPr>
              <a:t>Prevents insertion into incorrect dents or missed dents and readily accommodates high-density reeds.</a:t>
            </a:r>
          </a:p>
        </p:txBody>
      </p:sp>
      <p:sp>
        <p:nvSpPr>
          <p:cNvPr id="37" name="Capability background 0">
            <a:extLst>
              <a:ext uri="{FF2B5EF4-FFF2-40B4-BE49-F238E27FC236}">
                <a16:creationId xmlns:a16="http://schemas.microsoft.com/office/drawing/2014/main" id="{A92DB7D2-6C5A-4B90-BE1D-DEBF7AFCE0D5}"/>
              </a:ext>
            </a:extLst>
          </p:cNvPr>
          <p:cNvSpPr>
            <a:spLocks noGrp="1"/>
          </p:cNvSpPr>
          <p:nvPr/>
        </p:nvSpPr>
        <p:spPr>
          <a:xfrm>
            <a:off x="314325" y="6962775"/>
            <a:ext cx="4267200" cy="752475"/>
          </a:xfrm>
          <a:prstGeom prst="roundRect">
            <a:avLst>
              <a:gd name="adj" fmla="val 11392"/>
            </a:avLst>
          </a:prstGeom>
          <a:solidFill>
            <a:srgbClr val="FBF6EB"/>
          </a:solidFill>
          <a:ln w="0">
            <a:noFill/>
          </a:ln>
        </p:spPr>
        <p:txBody>
          <a:bodyPr/>
          <a:lstStyle/>
          <a:p>
            <a:endParaRPr lang="zh-CN" altLang="en-US"/>
          </a:p>
        </p:txBody>
      </p:sp>
      <p:sp>
        <p:nvSpPr>
          <p:cNvPr id="38" name="Capability label 0">
            <a:extLst>
              <a:ext uri="{FF2B5EF4-FFF2-40B4-BE49-F238E27FC236}">
                <a16:creationId xmlns:a16="http://schemas.microsoft.com/office/drawing/2014/main" id="{F6F1CED0-9702-4FC9-9951-5A5728453D1E}"/>
              </a:ext>
            </a:extLst>
          </p:cNvPr>
          <p:cNvSpPr>
            <a:spLocks noGrp="1"/>
          </p:cNvSpPr>
          <p:nvPr/>
        </p:nvSpPr>
        <p:spPr>
          <a:xfrm>
            <a:off x="447675" y="6981825"/>
            <a:ext cx="4057650" cy="276225"/>
          </a:xfrm>
          <a:prstGeom prst="rect">
            <a:avLst/>
          </a:prstGeom>
          <a:noFill/>
          <a:ln w="0">
            <a:noFill/>
          </a:ln>
        </p:spPr>
        <p:txBody>
          <a:bodyPr wrap="square" lIns="0" tIns="0" rIns="0" bIns="0" anchor="t">
            <a:noAutofit/>
          </a:bodyPr>
          <a:lstStyle/>
          <a:p>
            <a:pPr algn="l">
              <a:lnSpc>
                <a:spcPct val="100000"/>
              </a:lnSpc>
              <a:buNone/>
              <a:defRPr sz="1950" b="1">
                <a:solidFill>
                  <a:srgbClr val="111111"/>
                </a:solidFill>
                <a:latin typeface="Nimbus Sans Narrow"/>
                <a:ea typeface="Nimbus Sans Narrow"/>
                <a:cs typeface="Nimbus Sans Narrow"/>
              </a:defRPr>
            </a:pPr>
            <a:r>
              <a:rPr sz="1950" b="1">
                <a:solidFill>
                  <a:srgbClr val="111111"/>
                </a:solidFill>
                <a:latin typeface="Nimbus Sans Narrow"/>
                <a:ea typeface="Nimbus Sans Narrow"/>
                <a:cs typeface="Nimbus Sans Narrow"/>
              </a:rPr>
              <a:t>Key Capability</a:t>
            </a:r>
          </a:p>
        </p:txBody>
      </p:sp>
      <p:sp>
        <p:nvSpPr>
          <p:cNvPr id="39" name="Capability gold bar 0">
            <a:extLst>
              <a:ext uri="{FF2B5EF4-FFF2-40B4-BE49-F238E27FC236}">
                <a16:creationId xmlns:a16="http://schemas.microsoft.com/office/drawing/2014/main" id="{E03077B2-D851-42E2-813A-07A1B1DE98B3}"/>
              </a:ext>
            </a:extLst>
          </p:cNvPr>
          <p:cNvSpPr>
            <a:spLocks noGrp="1"/>
          </p:cNvSpPr>
          <p:nvPr/>
        </p:nvSpPr>
        <p:spPr>
          <a:xfrm>
            <a:off x="314325" y="7239000"/>
            <a:ext cx="4267200" cy="485775"/>
          </a:xfrm>
          <a:prstGeom prst="roundRect">
            <a:avLst>
              <a:gd name="adj" fmla="val 17647"/>
            </a:avLst>
          </a:prstGeom>
          <a:solidFill>
            <a:srgbClr val="EAAF1D"/>
          </a:solidFill>
          <a:ln w="0">
            <a:noFill/>
          </a:ln>
        </p:spPr>
        <p:txBody>
          <a:bodyPr/>
          <a:lstStyle/>
          <a:p>
            <a:endParaRPr lang="zh-CN" altLang="en-US"/>
          </a:p>
        </p:txBody>
      </p:sp>
      <p:sp>
        <p:nvSpPr>
          <p:cNvPr id="40" name="Capability detail 0">
            <a:extLst>
              <a:ext uri="{FF2B5EF4-FFF2-40B4-BE49-F238E27FC236}">
                <a16:creationId xmlns:a16="http://schemas.microsoft.com/office/drawing/2014/main" id="{648DDCDE-0C84-4D00-9E3A-6413CE705696}"/>
              </a:ext>
            </a:extLst>
          </p:cNvPr>
          <p:cNvSpPr>
            <a:spLocks noGrp="1"/>
          </p:cNvSpPr>
          <p:nvPr/>
        </p:nvSpPr>
        <p:spPr>
          <a:xfrm>
            <a:off x="409575" y="7286625"/>
            <a:ext cx="4076700" cy="409575"/>
          </a:xfrm>
          <a:prstGeom prst="rect">
            <a:avLst/>
          </a:prstGeom>
          <a:noFill/>
          <a:ln w="0">
            <a:noFill/>
          </a:ln>
        </p:spPr>
        <p:txBody>
          <a:bodyPr wrap="square" lIns="0" tIns="0" rIns="0" bIns="0" anchor="t">
            <a:noAutofit/>
          </a:bodyPr>
          <a:lstStyle/>
          <a:p>
            <a:pPr algn="ctr">
              <a:lnSpc>
                <a:spcPct val="100000"/>
              </a:lnSpc>
              <a:buNone/>
              <a:defRPr sz="1425" b="1">
                <a:solidFill>
                  <a:srgbClr val="111111"/>
                </a:solidFill>
                <a:latin typeface="Nimbus Sans Narrow"/>
                <a:ea typeface="Nimbus Sans Narrow"/>
                <a:cs typeface="Nimbus Sans Narrow"/>
              </a:defRPr>
            </a:pPr>
            <a:r>
              <a:rPr sz="1425" b="1">
                <a:solidFill>
                  <a:srgbClr val="111111"/>
                </a:solidFill>
                <a:latin typeface="Nimbus Sans Narrow"/>
                <a:ea typeface="Nimbus Sans Narrow"/>
                <a:cs typeface="Nimbus Sans Narrow"/>
              </a:rPr>
              <a:t>Supports High-Density Reeds</a:t>
            </a:r>
          </a:p>
          <a:p>
            <a:pPr algn="ctr">
              <a:lnSpc>
                <a:spcPct val="100000"/>
              </a:lnSpc>
              <a:buNone/>
              <a:defRPr sz="1425" b="1">
                <a:solidFill>
                  <a:srgbClr val="111111"/>
                </a:solidFill>
                <a:latin typeface="Nimbus Sans Narrow"/>
                <a:ea typeface="Nimbus Sans Narrow"/>
                <a:cs typeface="Nimbus Sans Narrow"/>
              </a:defRPr>
            </a:pPr>
            <a:r>
              <a:rPr sz="1425" b="1">
                <a:solidFill>
                  <a:srgbClr val="111111"/>
                </a:solidFill>
                <a:latin typeface="Nimbus Sans Narrow"/>
                <a:ea typeface="Nimbus Sans Narrow"/>
                <a:cs typeface="Nimbus Sans Narrow"/>
              </a:rPr>
              <a:t>with Counts of 42 and Above</a:t>
            </a:r>
          </a:p>
        </p:txBody>
      </p:sp>
      <p:sp>
        <p:nvSpPr>
          <p:cNvPr id="41" name="Card outline 1">
            <a:extLst>
              <a:ext uri="{FF2B5EF4-FFF2-40B4-BE49-F238E27FC236}">
                <a16:creationId xmlns:a16="http://schemas.microsoft.com/office/drawing/2014/main" id="{8F4E9B35-D78B-4CF5-9BC0-629C108801A3}"/>
              </a:ext>
            </a:extLst>
          </p:cNvPr>
          <p:cNvSpPr>
            <a:spLocks noGrp="1"/>
          </p:cNvSpPr>
          <p:nvPr/>
        </p:nvSpPr>
        <p:spPr>
          <a:xfrm>
            <a:off x="4876800" y="3562350"/>
            <a:ext cx="4448175" cy="4191000"/>
          </a:xfrm>
          <a:prstGeom prst="roundRect">
            <a:avLst>
              <a:gd name="adj" fmla="val 1818"/>
            </a:avLst>
          </a:prstGeom>
          <a:solidFill>
            <a:srgbClr val="FFFFFF"/>
          </a:solidFill>
          <a:ln w="9525">
            <a:solidFill>
              <a:srgbClr val="BCE4F1"/>
            </a:solidFill>
          </a:ln>
        </p:spPr>
        <p:txBody>
          <a:bodyPr/>
          <a:lstStyle/>
          <a:p>
            <a:endParaRPr lang="zh-CN" altLang="en-US"/>
          </a:p>
        </p:txBody>
      </p:sp>
      <p:pic>
        <p:nvPicPr>
          <p:cNvPr id="131" name="图片 130"/>
          <p:cNvPicPr>
            <a:picLocks noChangeAspect="1"/>
          </p:cNvPicPr>
          <p:nvPr/>
        </p:nvPicPr>
        <p:blipFill>
          <a:blip r:embed="rId12"/>
          <a:stretch/>
        </p:blipFill>
        <p:spPr>
          <a:xfrm>
            <a:off x="4886325" y="3571875"/>
            <a:ext cx="4429125" cy="1028700"/>
          </a:xfrm>
          <a:prstGeom prst="rect">
            <a:avLst/>
          </a:prstGeom>
        </p:spPr>
      </p:pic>
      <p:sp>
        <p:nvSpPr>
          <p:cNvPr id="43" name="Number badge 1">
            <a:extLst>
              <a:ext uri="{FF2B5EF4-FFF2-40B4-BE49-F238E27FC236}">
                <a16:creationId xmlns:a16="http://schemas.microsoft.com/office/drawing/2014/main" id="{E25B15AA-F820-44E0-ADDF-D49470A06826}"/>
              </a:ext>
            </a:extLst>
          </p:cNvPr>
          <p:cNvSpPr>
            <a:spLocks noGrp="1"/>
          </p:cNvSpPr>
          <p:nvPr/>
        </p:nvSpPr>
        <p:spPr>
          <a:xfrm>
            <a:off x="4914900" y="3648075"/>
            <a:ext cx="628650" cy="628650"/>
          </a:xfrm>
          <a:prstGeom prst="ellipse">
            <a:avLst/>
          </a:prstGeom>
          <a:solidFill>
            <a:srgbClr val="E8AD20"/>
          </a:solidFill>
          <a:ln w="28575">
            <a:solidFill>
              <a:srgbClr val="FFFFFF"/>
            </a:solidFill>
          </a:ln>
        </p:spPr>
        <p:txBody>
          <a:bodyPr/>
          <a:lstStyle/>
          <a:p>
            <a:endParaRPr lang="zh-CN" altLang="en-US"/>
          </a:p>
        </p:txBody>
      </p:sp>
      <p:sp>
        <p:nvSpPr>
          <p:cNvPr id="44" name="Card number 1">
            <a:extLst>
              <a:ext uri="{FF2B5EF4-FFF2-40B4-BE49-F238E27FC236}">
                <a16:creationId xmlns:a16="http://schemas.microsoft.com/office/drawing/2014/main" id="{51942FFA-301E-4F36-932C-6759DAD898FD}"/>
              </a:ext>
            </a:extLst>
          </p:cNvPr>
          <p:cNvSpPr>
            <a:spLocks noGrp="1"/>
          </p:cNvSpPr>
          <p:nvPr/>
        </p:nvSpPr>
        <p:spPr>
          <a:xfrm>
            <a:off x="4924425" y="3733800"/>
            <a:ext cx="552450" cy="466725"/>
          </a:xfrm>
          <a:prstGeom prst="rect">
            <a:avLst/>
          </a:prstGeom>
          <a:noFill/>
          <a:ln w="0">
            <a:noFill/>
          </a:ln>
        </p:spPr>
        <p:txBody>
          <a:bodyPr wrap="square" lIns="0" tIns="0" rIns="0" bIns="0" anchor="t">
            <a:noAutofit/>
          </a:bodyPr>
          <a:lstStyle/>
          <a:p>
            <a:pPr algn="ctr">
              <a:lnSpc>
                <a:spcPct val="100000"/>
              </a:lnSpc>
              <a:buNone/>
              <a:defRPr sz="2925" b="1">
                <a:solidFill>
                  <a:srgbClr val="FFFFFF"/>
                </a:solidFill>
                <a:latin typeface="Nimbus Sans Narrow"/>
                <a:ea typeface="Nimbus Sans Narrow"/>
                <a:cs typeface="Nimbus Sans Narrow"/>
              </a:defRPr>
            </a:pPr>
            <a:r>
              <a:rPr sz="2925" b="1">
                <a:solidFill>
                  <a:srgbClr val="FFFFFF"/>
                </a:solidFill>
                <a:latin typeface="Nimbus Sans Narrow"/>
                <a:ea typeface="Nimbus Sans Narrow"/>
                <a:cs typeface="Nimbus Sans Narrow"/>
              </a:rPr>
              <a:t>02</a:t>
            </a:r>
          </a:p>
        </p:txBody>
      </p:sp>
      <p:sp>
        <p:nvSpPr>
          <p:cNvPr id="45" name="Card title 1">
            <a:extLst>
              <a:ext uri="{FF2B5EF4-FFF2-40B4-BE49-F238E27FC236}">
                <a16:creationId xmlns:a16="http://schemas.microsoft.com/office/drawing/2014/main" id="{A8968686-29F8-4AAB-AA04-318C78D90F9A}"/>
              </a:ext>
            </a:extLst>
          </p:cNvPr>
          <p:cNvSpPr>
            <a:spLocks noGrp="1"/>
          </p:cNvSpPr>
          <p:nvPr/>
        </p:nvSpPr>
        <p:spPr>
          <a:xfrm>
            <a:off x="5067300" y="4695825"/>
            <a:ext cx="4114800" cy="400050"/>
          </a:xfrm>
          <a:prstGeom prst="rect">
            <a:avLst/>
          </a:prstGeom>
          <a:noFill/>
          <a:ln w="0">
            <a:noFill/>
          </a:ln>
        </p:spPr>
        <p:txBody>
          <a:bodyPr wrap="square" lIns="0" tIns="0" rIns="0" bIns="0" anchor="t">
            <a:noAutofit/>
          </a:bodyPr>
          <a:lstStyle/>
          <a:p>
            <a:pPr algn="l">
              <a:lnSpc>
                <a:spcPct val="100000"/>
              </a:lnSpc>
              <a:buNone/>
              <a:defRPr sz="2775" b="1">
                <a:solidFill>
                  <a:srgbClr val="111111"/>
                </a:solidFill>
                <a:latin typeface="Nimbus Sans Narrow"/>
                <a:ea typeface="Nimbus Sans Narrow"/>
                <a:cs typeface="Nimbus Sans Narrow"/>
              </a:defRPr>
            </a:pPr>
            <a:r>
              <a:rPr sz="2775" b="1">
                <a:solidFill>
                  <a:srgbClr val="111111"/>
                </a:solidFill>
                <a:latin typeface="Nimbus Sans Narrow"/>
                <a:ea typeface="Nimbus Sans Narrow"/>
                <a:cs typeface="Nimbus Sans Narrow"/>
              </a:rPr>
              <a:t>AI Single-Yarn Verification</a:t>
            </a:r>
          </a:p>
        </p:txBody>
      </p:sp>
      <p:sp>
        <p:nvSpPr>
          <p:cNvPr id="46" name="Card subtitle 1">
            <a:extLst>
              <a:ext uri="{FF2B5EF4-FFF2-40B4-BE49-F238E27FC236}">
                <a16:creationId xmlns:a16="http://schemas.microsoft.com/office/drawing/2014/main" id="{5B9A90FA-3433-4FE3-9FB9-AC1BE9340CC2}"/>
              </a:ext>
            </a:extLst>
          </p:cNvPr>
          <p:cNvSpPr>
            <a:spLocks noGrp="1"/>
          </p:cNvSpPr>
          <p:nvPr/>
        </p:nvSpPr>
        <p:spPr>
          <a:xfrm>
            <a:off x="5067300" y="5095875"/>
            <a:ext cx="4124325" cy="285750"/>
          </a:xfrm>
          <a:prstGeom prst="rect">
            <a:avLst/>
          </a:prstGeom>
          <a:noFill/>
          <a:ln w="0">
            <a:noFill/>
          </a:ln>
        </p:spPr>
        <p:txBody>
          <a:bodyPr wrap="square" lIns="0" tIns="0" rIns="0" bIns="0" anchor="t">
            <a:noAutofit/>
          </a:bodyPr>
          <a:lstStyle/>
          <a:p>
            <a:pPr algn="l">
              <a:lnSpc>
                <a:spcPct val="100000"/>
              </a:lnSpc>
              <a:buNone/>
              <a:defRPr sz="2025" b="1">
                <a:solidFill>
                  <a:srgbClr val="808080"/>
                </a:solidFill>
                <a:latin typeface="Nimbus Sans Narrow"/>
                <a:ea typeface="Nimbus Sans Narrow"/>
                <a:cs typeface="Nimbus Sans Narrow"/>
              </a:defRPr>
            </a:pPr>
            <a:r>
              <a:rPr sz="2025" b="1">
                <a:solidFill>
                  <a:srgbClr val="808080"/>
                </a:solidFill>
                <a:latin typeface="Nimbus Sans Narrow"/>
                <a:ea typeface="Nimbus Sans Narrow"/>
                <a:cs typeface="Nimbus Sans Narrow"/>
              </a:rPr>
              <a:t>One Yarn. Every Pick.</a:t>
            </a:r>
          </a:p>
        </p:txBody>
      </p:sp>
      <p:sp>
        <p:nvSpPr>
          <p:cNvPr id="47" name="Card explanation 1">
            <a:extLst>
              <a:ext uri="{FF2B5EF4-FFF2-40B4-BE49-F238E27FC236}">
                <a16:creationId xmlns:a16="http://schemas.microsoft.com/office/drawing/2014/main" id="{1DDA9DCD-3998-4474-B744-ED21E0DDA0A6}"/>
              </a:ext>
            </a:extLst>
          </p:cNvPr>
          <p:cNvSpPr>
            <a:spLocks noGrp="1"/>
          </p:cNvSpPr>
          <p:nvPr/>
        </p:nvSpPr>
        <p:spPr>
          <a:xfrm>
            <a:off x="5067300" y="5438775"/>
            <a:ext cx="4095750" cy="704850"/>
          </a:xfrm>
          <a:prstGeom prst="rect">
            <a:avLst/>
          </a:prstGeom>
          <a:noFill/>
          <a:ln w="0">
            <a:noFill/>
          </a:ln>
        </p:spPr>
        <p:txBody>
          <a:bodyPr wrap="square" lIns="0" tIns="0" rIns="0" bIns="0" anchor="t">
            <a:noAutofit/>
          </a:bodyPr>
          <a:lstStyle/>
          <a:p>
            <a:pPr algn="l">
              <a:lnSpc>
                <a:spcPct val="100000"/>
              </a:lnSpc>
              <a:buNone/>
              <a:defRPr sz="1500" b="0">
                <a:solidFill>
                  <a:srgbClr val="111111"/>
                </a:solidFill>
                <a:latin typeface="Nimbus Sans Narrow"/>
                <a:ea typeface="Nimbus Sans Narrow"/>
                <a:cs typeface="Nimbus Sans Narrow"/>
              </a:defRPr>
            </a:pPr>
            <a:r>
              <a:rPr sz="1500" b="0">
                <a:solidFill>
                  <a:srgbClr val="111111"/>
                </a:solidFill>
                <a:latin typeface="Nimbus Sans Narrow"/>
                <a:ea typeface="Nimbus Sans Narrow"/>
                <a:cs typeface="Nimbus Sans Narrow"/>
              </a:rPr>
              <a:t>Analyzes yarn width, shape and shadow patterns against a single-yarn model to verify that each pick contains exactly one yarn.</a:t>
            </a:r>
          </a:p>
        </p:txBody>
      </p:sp>
      <p:sp>
        <p:nvSpPr>
          <p:cNvPr id="48" name="Performance background 1">
            <a:extLst>
              <a:ext uri="{FF2B5EF4-FFF2-40B4-BE49-F238E27FC236}">
                <a16:creationId xmlns:a16="http://schemas.microsoft.com/office/drawing/2014/main" id="{C342F3D9-34E4-4BD9-A973-4F8E56054E23}"/>
              </a:ext>
            </a:extLst>
          </p:cNvPr>
          <p:cNvSpPr>
            <a:spLocks noGrp="1"/>
          </p:cNvSpPr>
          <p:nvPr/>
        </p:nvSpPr>
        <p:spPr>
          <a:xfrm>
            <a:off x="5000625" y="6143625"/>
            <a:ext cx="4200525" cy="800100"/>
          </a:xfrm>
          <a:prstGeom prst="roundRect">
            <a:avLst>
              <a:gd name="adj" fmla="val 11905"/>
            </a:avLst>
          </a:prstGeom>
          <a:solidFill>
            <a:srgbClr val="FBF6EB"/>
          </a:solidFill>
          <a:ln w="0">
            <a:noFill/>
          </a:ln>
        </p:spPr>
        <p:txBody>
          <a:bodyPr/>
          <a:lstStyle/>
          <a:p>
            <a:endParaRPr lang="zh-CN" altLang="en-US"/>
          </a:p>
        </p:txBody>
      </p:sp>
      <p:sp>
        <p:nvSpPr>
          <p:cNvPr id="49" name="Performance label 1">
            <a:extLst>
              <a:ext uri="{FF2B5EF4-FFF2-40B4-BE49-F238E27FC236}">
                <a16:creationId xmlns:a16="http://schemas.microsoft.com/office/drawing/2014/main" id="{CBA5687B-BC14-4AEA-9359-56C0D7089B40}"/>
              </a:ext>
            </a:extLst>
          </p:cNvPr>
          <p:cNvSpPr>
            <a:spLocks noGrp="1"/>
          </p:cNvSpPr>
          <p:nvPr/>
        </p:nvSpPr>
        <p:spPr>
          <a:xfrm>
            <a:off x="5133975" y="6181725"/>
            <a:ext cx="3990975" cy="276225"/>
          </a:xfrm>
          <a:prstGeom prst="rect">
            <a:avLst/>
          </a:prstGeom>
          <a:noFill/>
          <a:ln w="0">
            <a:noFill/>
          </a:ln>
        </p:spPr>
        <p:txBody>
          <a:bodyPr wrap="square" lIns="0" tIns="0" rIns="0" bIns="0" anchor="t">
            <a:noAutofit/>
          </a:bodyPr>
          <a:lstStyle/>
          <a:p>
            <a:pPr algn="l">
              <a:lnSpc>
                <a:spcPct val="100000"/>
              </a:lnSpc>
              <a:buNone/>
              <a:defRPr sz="1950" b="1">
                <a:solidFill>
                  <a:srgbClr val="111111"/>
                </a:solidFill>
                <a:latin typeface="Nimbus Sans Narrow"/>
                <a:ea typeface="Nimbus Sans Narrow"/>
                <a:cs typeface="Nimbus Sans Narrow"/>
              </a:defRPr>
            </a:pPr>
            <a:r>
              <a:rPr sz="1950" b="1">
                <a:solidFill>
                  <a:srgbClr val="111111"/>
                </a:solidFill>
                <a:latin typeface="Nimbus Sans Narrow"/>
                <a:ea typeface="Nimbus Sans Narrow"/>
                <a:cs typeface="Nimbus Sans Narrow"/>
              </a:rPr>
              <a:t>Performance</a:t>
            </a:r>
          </a:p>
        </p:txBody>
      </p:sp>
      <p:sp>
        <p:nvSpPr>
          <p:cNvPr id="50" name="Performance detail 1">
            <a:extLst>
              <a:ext uri="{FF2B5EF4-FFF2-40B4-BE49-F238E27FC236}">
                <a16:creationId xmlns:a16="http://schemas.microsoft.com/office/drawing/2014/main" id="{B998B7BC-167F-4498-9170-0DDC2BF963BA}"/>
              </a:ext>
            </a:extLst>
          </p:cNvPr>
          <p:cNvSpPr>
            <a:spLocks noGrp="1"/>
          </p:cNvSpPr>
          <p:nvPr/>
        </p:nvSpPr>
        <p:spPr>
          <a:xfrm>
            <a:off x="5133975" y="6477000"/>
            <a:ext cx="3990975" cy="457200"/>
          </a:xfrm>
          <a:prstGeom prst="rect">
            <a:avLst/>
          </a:prstGeom>
          <a:noFill/>
          <a:ln w="0">
            <a:noFill/>
          </a:ln>
        </p:spPr>
        <p:txBody>
          <a:bodyPr wrap="square" lIns="0" tIns="0" rIns="0" bIns="0" anchor="t">
            <a:noAutofit/>
          </a:bodyPr>
          <a:lstStyle/>
          <a:p>
            <a:pPr algn="l">
              <a:lnSpc>
                <a:spcPct val="100000"/>
              </a:lnSpc>
              <a:buNone/>
              <a:defRPr sz="1425" b="0">
                <a:solidFill>
                  <a:srgbClr val="111111"/>
                </a:solidFill>
                <a:latin typeface="Nimbus Sans Narrow"/>
                <a:ea typeface="Nimbus Sans Narrow"/>
                <a:cs typeface="Nimbus Sans Narrow"/>
              </a:defRPr>
            </a:pPr>
            <a:r>
              <a:rPr sz="1425" b="0">
                <a:solidFill>
                  <a:srgbClr val="111111"/>
                </a:solidFill>
                <a:latin typeface="Nimbus Sans Narrow"/>
                <a:ea typeface="Nimbus Sans Narrow"/>
                <a:cs typeface="Nimbus Sans Narrow"/>
              </a:rPr>
              <a:t>Ensures single-yarn picking and detects and blocks double-yarn, multiple-yarn and missed picks.</a:t>
            </a:r>
          </a:p>
        </p:txBody>
      </p:sp>
      <p:sp>
        <p:nvSpPr>
          <p:cNvPr id="51" name="Capability background 1">
            <a:extLst>
              <a:ext uri="{FF2B5EF4-FFF2-40B4-BE49-F238E27FC236}">
                <a16:creationId xmlns:a16="http://schemas.microsoft.com/office/drawing/2014/main" id="{90FD51C3-F925-4E15-991F-452039DA7606}"/>
              </a:ext>
            </a:extLst>
          </p:cNvPr>
          <p:cNvSpPr>
            <a:spLocks noGrp="1"/>
          </p:cNvSpPr>
          <p:nvPr/>
        </p:nvSpPr>
        <p:spPr>
          <a:xfrm>
            <a:off x="5000625" y="6962775"/>
            <a:ext cx="4200525" cy="752475"/>
          </a:xfrm>
          <a:prstGeom prst="roundRect">
            <a:avLst>
              <a:gd name="adj" fmla="val 11392"/>
            </a:avLst>
          </a:prstGeom>
          <a:solidFill>
            <a:srgbClr val="FBF6EB"/>
          </a:solidFill>
          <a:ln w="0">
            <a:noFill/>
          </a:ln>
        </p:spPr>
        <p:txBody>
          <a:bodyPr/>
          <a:lstStyle/>
          <a:p>
            <a:endParaRPr lang="zh-CN" altLang="en-US"/>
          </a:p>
        </p:txBody>
      </p:sp>
      <p:sp>
        <p:nvSpPr>
          <p:cNvPr id="52" name="Capability label 1">
            <a:extLst>
              <a:ext uri="{FF2B5EF4-FFF2-40B4-BE49-F238E27FC236}">
                <a16:creationId xmlns:a16="http://schemas.microsoft.com/office/drawing/2014/main" id="{7A8155A7-76A4-43F8-83BF-7E0933368FD2}"/>
              </a:ext>
            </a:extLst>
          </p:cNvPr>
          <p:cNvSpPr>
            <a:spLocks noGrp="1"/>
          </p:cNvSpPr>
          <p:nvPr/>
        </p:nvSpPr>
        <p:spPr>
          <a:xfrm>
            <a:off x="5133975" y="6981825"/>
            <a:ext cx="3990975" cy="276225"/>
          </a:xfrm>
          <a:prstGeom prst="rect">
            <a:avLst/>
          </a:prstGeom>
          <a:noFill/>
          <a:ln w="0">
            <a:noFill/>
          </a:ln>
        </p:spPr>
        <p:txBody>
          <a:bodyPr wrap="square" lIns="0" tIns="0" rIns="0" bIns="0" anchor="t">
            <a:noAutofit/>
          </a:bodyPr>
          <a:lstStyle/>
          <a:p>
            <a:pPr algn="l">
              <a:lnSpc>
                <a:spcPct val="100000"/>
              </a:lnSpc>
              <a:buNone/>
              <a:defRPr sz="1950" b="1">
                <a:solidFill>
                  <a:srgbClr val="111111"/>
                </a:solidFill>
                <a:latin typeface="Nimbus Sans Narrow"/>
                <a:ea typeface="Nimbus Sans Narrow"/>
                <a:cs typeface="Nimbus Sans Narrow"/>
              </a:defRPr>
            </a:pPr>
            <a:r>
              <a:rPr sz="1950" b="1">
                <a:solidFill>
                  <a:srgbClr val="111111"/>
                </a:solidFill>
                <a:latin typeface="Nimbus Sans Narrow"/>
                <a:ea typeface="Nimbus Sans Narrow"/>
                <a:cs typeface="Nimbus Sans Narrow"/>
              </a:rPr>
              <a:t>Key Capabilities</a:t>
            </a:r>
          </a:p>
        </p:txBody>
      </p:sp>
      <p:sp>
        <p:nvSpPr>
          <p:cNvPr id="53" name="Capability gold bar 1">
            <a:extLst>
              <a:ext uri="{FF2B5EF4-FFF2-40B4-BE49-F238E27FC236}">
                <a16:creationId xmlns:a16="http://schemas.microsoft.com/office/drawing/2014/main" id="{D8A44A2C-2E32-4388-9B9A-633411F2C97C}"/>
              </a:ext>
            </a:extLst>
          </p:cNvPr>
          <p:cNvSpPr>
            <a:spLocks noGrp="1"/>
          </p:cNvSpPr>
          <p:nvPr/>
        </p:nvSpPr>
        <p:spPr>
          <a:xfrm>
            <a:off x="5000625" y="7239000"/>
            <a:ext cx="4200525" cy="485775"/>
          </a:xfrm>
          <a:prstGeom prst="roundRect">
            <a:avLst>
              <a:gd name="adj" fmla="val 17647"/>
            </a:avLst>
          </a:prstGeom>
          <a:solidFill>
            <a:srgbClr val="EAAF1D"/>
          </a:solidFill>
          <a:ln w="0">
            <a:noFill/>
          </a:ln>
        </p:spPr>
        <p:txBody>
          <a:bodyPr/>
          <a:lstStyle/>
          <a:p>
            <a:endParaRPr lang="zh-CN" altLang="en-US"/>
          </a:p>
        </p:txBody>
      </p:sp>
      <p:sp>
        <p:nvSpPr>
          <p:cNvPr id="54" name="Capability detail 1">
            <a:extLst>
              <a:ext uri="{FF2B5EF4-FFF2-40B4-BE49-F238E27FC236}">
                <a16:creationId xmlns:a16="http://schemas.microsoft.com/office/drawing/2014/main" id="{D7DFDECA-8297-4A38-99AA-58CFEB0F65C5}"/>
              </a:ext>
            </a:extLst>
          </p:cNvPr>
          <p:cNvSpPr>
            <a:spLocks noGrp="1"/>
          </p:cNvSpPr>
          <p:nvPr/>
        </p:nvSpPr>
        <p:spPr>
          <a:xfrm>
            <a:off x="5095875" y="7286625"/>
            <a:ext cx="4010025" cy="409575"/>
          </a:xfrm>
          <a:prstGeom prst="rect">
            <a:avLst/>
          </a:prstGeom>
          <a:noFill/>
          <a:ln w="0">
            <a:noFill/>
          </a:ln>
        </p:spPr>
        <p:txBody>
          <a:bodyPr wrap="square" lIns="0" tIns="0" rIns="0" bIns="0" anchor="t">
            <a:noAutofit/>
          </a:bodyPr>
          <a:lstStyle/>
          <a:p>
            <a:pPr algn="ctr">
              <a:lnSpc>
                <a:spcPct val="100000"/>
              </a:lnSpc>
              <a:buNone/>
              <a:defRPr sz="1425" b="1">
                <a:solidFill>
                  <a:srgbClr val="111111"/>
                </a:solidFill>
                <a:latin typeface="Nimbus Sans Narrow"/>
                <a:ea typeface="Nimbus Sans Narrow"/>
                <a:cs typeface="Nimbus Sans Narrow"/>
              </a:defRPr>
            </a:pPr>
            <a:r>
              <a:rPr sz="1425" b="1">
                <a:solidFill>
                  <a:srgbClr val="111111"/>
                </a:solidFill>
                <a:latin typeface="Nimbus Sans Narrow"/>
                <a:ea typeface="Nimbus Sans Narrow"/>
                <a:cs typeface="Nimbus Sans Narrow"/>
              </a:rPr>
              <a:t>Single-Yarn Recognition | Double-Yarn Detection |</a:t>
            </a:r>
          </a:p>
          <a:p>
            <a:pPr algn="ctr">
              <a:lnSpc>
                <a:spcPct val="100000"/>
              </a:lnSpc>
              <a:buNone/>
              <a:defRPr sz="1425" b="1">
                <a:solidFill>
                  <a:srgbClr val="111111"/>
                </a:solidFill>
                <a:latin typeface="Nimbus Sans Narrow"/>
                <a:ea typeface="Nimbus Sans Narrow"/>
                <a:cs typeface="Nimbus Sans Narrow"/>
              </a:defRPr>
            </a:pPr>
            <a:r>
              <a:rPr sz="1425" b="1">
                <a:solidFill>
                  <a:srgbClr val="111111"/>
                </a:solidFill>
                <a:latin typeface="Nimbus Sans Narrow"/>
                <a:ea typeface="Nimbus Sans Narrow"/>
                <a:cs typeface="Nimbus Sans Narrow"/>
              </a:rPr>
              <a:t>Missed-Pick Detection</a:t>
            </a:r>
          </a:p>
        </p:txBody>
      </p:sp>
      <p:sp>
        <p:nvSpPr>
          <p:cNvPr id="55" name="Card outline 2">
            <a:extLst>
              <a:ext uri="{FF2B5EF4-FFF2-40B4-BE49-F238E27FC236}">
                <a16:creationId xmlns:a16="http://schemas.microsoft.com/office/drawing/2014/main" id="{D0B29B3F-25BB-42F4-9CF4-27DAEFEB915B}"/>
              </a:ext>
            </a:extLst>
          </p:cNvPr>
          <p:cNvSpPr>
            <a:spLocks noGrp="1"/>
          </p:cNvSpPr>
          <p:nvPr/>
        </p:nvSpPr>
        <p:spPr>
          <a:xfrm>
            <a:off x="9496425" y="3562350"/>
            <a:ext cx="4581525" cy="4191000"/>
          </a:xfrm>
          <a:prstGeom prst="roundRect">
            <a:avLst>
              <a:gd name="adj" fmla="val 1818"/>
            </a:avLst>
          </a:prstGeom>
          <a:solidFill>
            <a:srgbClr val="FFFFFF"/>
          </a:solidFill>
          <a:ln w="9525">
            <a:solidFill>
              <a:srgbClr val="BCE4F1"/>
            </a:solidFill>
          </a:ln>
        </p:spPr>
        <p:txBody>
          <a:bodyPr/>
          <a:lstStyle/>
          <a:p>
            <a:endParaRPr lang="zh-CN" altLang="en-US"/>
          </a:p>
        </p:txBody>
      </p:sp>
      <p:pic>
        <p:nvPicPr>
          <p:cNvPr id="145" name="图片 144"/>
          <p:cNvPicPr>
            <a:picLocks noChangeAspect="1"/>
          </p:cNvPicPr>
          <p:nvPr/>
        </p:nvPicPr>
        <p:blipFill>
          <a:blip r:embed="rId13"/>
          <a:stretch/>
        </p:blipFill>
        <p:spPr>
          <a:xfrm>
            <a:off x="9505950" y="3571875"/>
            <a:ext cx="4562475" cy="1028700"/>
          </a:xfrm>
          <a:prstGeom prst="rect">
            <a:avLst/>
          </a:prstGeom>
        </p:spPr>
      </p:pic>
      <p:sp>
        <p:nvSpPr>
          <p:cNvPr id="57" name="Number badge 2">
            <a:extLst>
              <a:ext uri="{FF2B5EF4-FFF2-40B4-BE49-F238E27FC236}">
                <a16:creationId xmlns:a16="http://schemas.microsoft.com/office/drawing/2014/main" id="{AFB9C9FF-E8F2-4EC8-89C5-F6EFDEF6E531}"/>
              </a:ext>
            </a:extLst>
          </p:cNvPr>
          <p:cNvSpPr>
            <a:spLocks noGrp="1"/>
          </p:cNvSpPr>
          <p:nvPr/>
        </p:nvSpPr>
        <p:spPr>
          <a:xfrm>
            <a:off x="9534525" y="3648075"/>
            <a:ext cx="628650" cy="628650"/>
          </a:xfrm>
          <a:prstGeom prst="ellipse">
            <a:avLst/>
          </a:prstGeom>
          <a:solidFill>
            <a:srgbClr val="E8AD20"/>
          </a:solidFill>
          <a:ln w="28575">
            <a:solidFill>
              <a:srgbClr val="FFFFFF"/>
            </a:solidFill>
          </a:ln>
        </p:spPr>
        <p:txBody>
          <a:bodyPr/>
          <a:lstStyle/>
          <a:p>
            <a:endParaRPr lang="zh-CN" altLang="en-US"/>
          </a:p>
        </p:txBody>
      </p:sp>
      <p:sp>
        <p:nvSpPr>
          <p:cNvPr id="58" name="Card number 2">
            <a:extLst>
              <a:ext uri="{FF2B5EF4-FFF2-40B4-BE49-F238E27FC236}">
                <a16:creationId xmlns:a16="http://schemas.microsoft.com/office/drawing/2014/main" id="{62C6FA5B-9210-4984-9284-F2E9428E0FF1}"/>
              </a:ext>
            </a:extLst>
          </p:cNvPr>
          <p:cNvSpPr>
            <a:spLocks noGrp="1"/>
          </p:cNvSpPr>
          <p:nvPr/>
        </p:nvSpPr>
        <p:spPr>
          <a:xfrm>
            <a:off x="9544050" y="3733800"/>
            <a:ext cx="552450" cy="466725"/>
          </a:xfrm>
          <a:prstGeom prst="rect">
            <a:avLst/>
          </a:prstGeom>
          <a:noFill/>
          <a:ln w="0">
            <a:noFill/>
          </a:ln>
        </p:spPr>
        <p:txBody>
          <a:bodyPr wrap="square" lIns="0" tIns="0" rIns="0" bIns="0" anchor="t">
            <a:noAutofit/>
          </a:bodyPr>
          <a:lstStyle/>
          <a:p>
            <a:pPr algn="ctr">
              <a:lnSpc>
                <a:spcPct val="100000"/>
              </a:lnSpc>
              <a:buNone/>
              <a:defRPr sz="2925" b="1">
                <a:solidFill>
                  <a:srgbClr val="FFFFFF"/>
                </a:solidFill>
                <a:latin typeface="Nimbus Sans Narrow"/>
                <a:ea typeface="Nimbus Sans Narrow"/>
                <a:cs typeface="Nimbus Sans Narrow"/>
              </a:defRPr>
            </a:pPr>
            <a:r>
              <a:rPr sz="2925" b="1">
                <a:solidFill>
                  <a:srgbClr val="FFFFFF"/>
                </a:solidFill>
                <a:latin typeface="Nimbus Sans Narrow"/>
                <a:ea typeface="Nimbus Sans Narrow"/>
                <a:cs typeface="Nimbus Sans Narrow"/>
              </a:rPr>
              <a:t>03</a:t>
            </a:r>
          </a:p>
        </p:txBody>
      </p:sp>
      <p:sp>
        <p:nvSpPr>
          <p:cNvPr id="59" name="Card title 2">
            <a:extLst>
              <a:ext uri="{FF2B5EF4-FFF2-40B4-BE49-F238E27FC236}">
                <a16:creationId xmlns:a16="http://schemas.microsoft.com/office/drawing/2014/main" id="{DCDDAA22-DF8C-4ABE-B412-2115BF41AA2B}"/>
              </a:ext>
            </a:extLst>
          </p:cNvPr>
          <p:cNvSpPr>
            <a:spLocks noGrp="1"/>
          </p:cNvSpPr>
          <p:nvPr/>
        </p:nvSpPr>
        <p:spPr>
          <a:xfrm>
            <a:off x="9686925" y="4695825"/>
            <a:ext cx="4248150" cy="400050"/>
          </a:xfrm>
          <a:prstGeom prst="rect">
            <a:avLst/>
          </a:prstGeom>
          <a:noFill/>
          <a:ln w="0">
            <a:noFill/>
          </a:ln>
        </p:spPr>
        <p:txBody>
          <a:bodyPr wrap="square" lIns="0" tIns="0" rIns="0" bIns="0" anchor="t">
            <a:noAutofit/>
          </a:bodyPr>
          <a:lstStyle/>
          <a:p>
            <a:pPr algn="l">
              <a:lnSpc>
                <a:spcPct val="100000"/>
              </a:lnSpc>
              <a:buNone/>
              <a:defRPr sz="2775" b="1">
                <a:solidFill>
                  <a:srgbClr val="111111"/>
                </a:solidFill>
                <a:latin typeface="Nimbus Sans Narrow"/>
                <a:ea typeface="Nimbus Sans Narrow"/>
                <a:cs typeface="Nimbus Sans Narrow"/>
              </a:defRPr>
            </a:pPr>
            <a:r>
              <a:rPr sz="2775" b="1" dirty="0">
                <a:solidFill>
                  <a:srgbClr val="111111"/>
                </a:solidFill>
                <a:latin typeface="Nimbus Sans Narrow"/>
                <a:ea typeface="Nimbus Sans Narrow"/>
                <a:cs typeface="Nimbus Sans Narrow"/>
              </a:rPr>
              <a:t>AI Color Pattern Recognition</a:t>
            </a:r>
          </a:p>
        </p:txBody>
      </p:sp>
      <p:sp>
        <p:nvSpPr>
          <p:cNvPr id="60" name="Card subtitle 2">
            <a:extLst>
              <a:ext uri="{FF2B5EF4-FFF2-40B4-BE49-F238E27FC236}">
                <a16:creationId xmlns:a16="http://schemas.microsoft.com/office/drawing/2014/main" id="{013AA17D-B39C-4C1D-965B-6178FB363E53}"/>
              </a:ext>
            </a:extLst>
          </p:cNvPr>
          <p:cNvSpPr>
            <a:spLocks noGrp="1"/>
          </p:cNvSpPr>
          <p:nvPr/>
        </p:nvSpPr>
        <p:spPr>
          <a:xfrm>
            <a:off x="9686925" y="5095875"/>
            <a:ext cx="4257675" cy="285750"/>
          </a:xfrm>
          <a:prstGeom prst="rect">
            <a:avLst/>
          </a:prstGeom>
          <a:noFill/>
          <a:ln w="0">
            <a:noFill/>
          </a:ln>
        </p:spPr>
        <p:txBody>
          <a:bodyPr wrap="square" lIns="0" tIns="0" rIns="0" bIns="0" anchor="t">
            <a:noAutofit/>
          </a:bodyPr>
          <a:lstStyle/>
          <a:p>
            <a:pPr algn="l">
              <a:lnSpc>
                <a:spcPct val="100000"/>
              </a:lnSpc>
              <a:buNone/>
              <a:defRPr sz="1650" b="1">
                <a:solidFill>
                  <a:srgbClr val="808080"/>
                </a:solidFill>
                <a:latin typeface="Nimbus Sans Narrow"/>
                <a:ea typeface="Nimbus Sans Narrow"/>
                <a:cs typeface="Nimbus Sans Narrow"/>
              </a:defRPr>
            </a:pPr>
            <a:r>
              <a:rPr sz="1650" b="1">
                <a:solidFill>
                  <a:srgbClr val="808080"/>
                </a:solidFill>
                <a:latin typeface="Nimbus Sans Narrow"/>
                <a:ea typeface="Nimbus Sans Narrow"/>
                <a:cs typeface="Nimbus Sans Narrow"/>
              </a:rPr>
              <a:t>Simplify Color Matching. Automate Drawing-in.</a:t>
            </a:r>
          </a:p>
        </p:txBody>
      </p:sp>
      <p:sp>
        <p:nvSpPr>
          <p:cNvPr id="61" name="Card explanation 2">
            <a:extLst>
              <a:ext uri="{FF2B5EF4-FFF2-40B4-BE49-F238E27FC236}">
                <a16:creationId xmlns:a16="http://schemas.microsoft.com/office/drawing/2014/main" id="{D20A4C26-10D1-4863-9A8D-6A5915D1EA83}"/>
              </a:ext>
            </a:extLst>
          </p:cNvPr>
          <p:cNvSpPr>
            <a:spLocks noGrp="1"/>
          </p:cNvSpPr>
          <p:nvPr/>
        </p:nvSpPr>
        <p:spPr>
          <a:xfrm>
            <a:off x="9686925" y="5372100"/>
            <a:ext cx="4229100" cy="771525"/>
          </a:xfrm>
          <a:prstGeom prst="rect">
            <a:avLst/>
          </a:prstGeom>
          <a:noFill/>
          <a:ln w="0">
            <a:noFill/>
          </a:ln>
        </p:spPr>
        <p:txBody>
          <a:bodyPr wrap="square" lIns="0" tIns="0" rIns="0" bIns="0" anchor="t">
            <a:noAutofit/>
          </a:bodyPr>
          <a:lstStyle/>
          <a:p>
            <a:pPr algn="l">
              <a:lnSpc>
                <a:spcPct val="100000"/>
              </a:lnSpc>
              <a:buNone/>
              <a:defRPr sz="1275" b="0">
                <a:solidFill>
                  <a:srgbClr val="111111"/>
                </a:solidFill>
                <a:latin typeface="Nimbus Sans Narrow"/>
                <a:ea typeface="Nimbus Sans Narrow"/>
                <a:cs typeface="Nimbus Sans Narrow"/>
              </a:defRPr>
            </a:pPr>
            <a:r>
              <a:rPr sz="1275" b="0">
                <a:solidFill>
                  <a:srgbClr val="111111"/>
                </a:solidFill>
                <a:latin typeface="Nimbus Sans Narrow"/>
                <a:ea typeface="Nimbus Sans Narrow"/>
                <a:cs typeface="Nimbus Sans Narrow"/>
              </a:rPr>
              <a:t>Before operation, the DVI Dynamic Vision System captures yarn colors and establishes reference standards. During operation, it compares color similarity in real time to identify and accurately pick yarns by color across multiple layers.</a:t>
            </a:r>
          </a:p>
        </p:txBody>
      </p:sp>
      <p:sp>
        <p:nvSpPr>
          <p:cNvPr id="62" name="Performance background 2">
            <a:extLst>
              <a:ext uri="{FF2B5EF4-FFF2-40B4-BE49-F238E27FC236}">
                <a16:creationId xmlns:a16="http://schemas.microsoft.com/office/drawing/2014/main" id="{5CADE666-6681-4BD3-9E82-0F56297CE06E}"/>
              </a:ext>
            </a:extLst>
          </p:cNvPr>
          <p:cNvSpPr>
            <a:spLocks noGrp="1"/>
          </p:cNvSpPr>
          <p:nvPr/>
        </p:nvSpPr>
        <p:spPr>
          <a:xfrm>
            <a:off x="9620250" y="6143625"/>
            <a:ext cx="4333875" cy="800100"/>
          </a:xfrm>
          <a:prstGeom prst="roundRect">
            <a:avLst>
              <a:gd name="adj" fmla="val 11905"/>
            </a:avLst>
          </a:prstGeom>
          <a:solidFill>
            <a:srgbClr val="FBF6EB"/>
          </a:solidFill>
          <a:ln w="0">
            <a:noFill/>
          </a:ln>
        </p:spPr>
        <p:txBody>
          <a:bodyPr/>
          <a:lstStyle/>
          <a:p>
            <a:endParaRPr lang="zh-CN" altLang="en-US"/>
          </a:p>
        </p:txBody>
      </p:sp>
      <p:sp>
        <p:nvSpPr>
          <p:cNvPr id="63" name="Performance label 2">
            <a:extLst>
              <a:ext uri="{FF2B5EF4-FFF2-40B4-BE49-F238E27FC236}">
                <a16:creationId xmlns:a16="http://schemas.microsoft.com/office/drawing/2014/main" id="{CEB35979-3E9A-4819-B705-FE3C13977D63}"/>
              </a:ext>
            </a:extLst>
          </p:cNvPr>
          <p:cNvSpPr>
            <a:spLocks noGrp="1"/>
          </p:cNvSpPr>
          <p:nvPr/>
        </p:nvSpPr>
        <p:spPr>
          <a:xfrm>
            <a:off x="9753600" y="6181725"/>
            <a:ext cx="4124325" cy="276225"/>
          </a:xfrm>
          <a:prstGeom prst="rect">
            <a:avLst/>
          </a:prstGeom>
          <a:noFill/>
          <a:ln w="0">
            <a:noFill/>
          </a:ln>
        </p:spPr>
        <p:txBody>
          <a:bodyPr wrap="square" lIns="0" tIns="0" rIns="0" bIns="0" anchor="t">
            <a:noAutofit/>
          </a:bodyPr>
          <a:lstStyle/>
          <a:p>
            <a:pPr algn="l">
              <a:lnSpc>
                <a:spcPct val="100000"/>
              </a:lnSpc>
              <a:buNone/>
              <a:defRPr sz="1950" b="1">
                <a:solidFill>
                  <a:srgbClr val="111111"/>
                </a:solidFill>
                <a:latin typeface="Nimbus Sans Narrow"/>
                <a:ea typeface="Nimbus Sans Narrow"/>
                <a:cs typeface="Nimbus Sans Narrow"/>
              </a:defRPr>
            </a:pPr>
            <a:r>
              <a:rPr sz="1950" b="1">
                <a:solidFill>
                  <a:srgbClr val="111111"/>
                </a:solidFill>
                <a:latin typeface="Nimbus Sans Narrow"/>
                <a:ea typeface="Nimbus Sans Narrow"/>
                <a:cs typeface="Nimbus Sans Narrow"/>
              </a:rPr>
              <a:t>Performance</a:t>
            </a:r>
          </a:p>
        </p:txBody>
      </p:sp>
      <p:sp>
        <p:nvSpPr>
          <p:cNvPr id="64" name="Performance detail 2">
            <a:extLst>
              <a:ext uri="{FF2B5EF4-FFF2-40B4-BE49-F238E27FC236}">
                <a16:creationId xmlns:a16="http://schemas.microsoft.com/office/drawing/2014/main" id="{A871F2DF-9EB1-4221-BCD2-679227221422}"/>
              </a:ext>
            </a:extLst>
          </p:cNvPr>
          <p:cNvSpPr>
            <a:spLocks noGrp="1"/>
          </p:cNvSpPr>
          <p:nvPr/>
        </p:nvSpPr>
        <p:spPr>
          <a:xfrm>
            <a:off x="9753600" y="6477000"/>
            <a:ext cx="4124325" cy="457200"/>
          </a:xfrm>
          <a:prstGeom prst="rect">
            <a:avLst/>
          </a:prstGeom>
          <a:noFill/>
          <a:ln w="0">
            <a:noFill/>
          </a:ln>
        </p:spPr>
        <p:txBody>
          <a:bodyPr wrap="square" lIns="0" tIns="0" rIns="0" bIns="0" anchor="t">
            <a:noAutofit/>
          </a:bodyPr>
          <a:lstStyle/>
          <a:p>
            <a:pPr algn="l">
              <a:lnSpc>
                <a:spcPct val="100000"/>
              </a:lnSpc>
              <a:buNone/>
              <a:defRPr sz="1425" b="0">
                <a:solidFill>
                  <a:srgbClr val="111111"/>
                </a:solidFill>
                <a:latin typeface="Nimbus Sans Narrow"/>
                <a:ea typeface="Nimbus Sans Narrow"/>
                <a:cs typeface="Nimbus Sans Narrow"/>
              </a:defRPr>
            </a:pPr>
            <a:r>
              <a:rPr sz="1425" b="0">
                <a:solidFill>
                  <a:srgbClr val="111111"/>
                </a:solidFill>
                <a:latin typeface="Nimbus Sans Narrow"/>
                <a:ea typeface="Nimbus Sans Narrow"/>
                <a:cs typeface="Nimbus Sans Narrow"/>
              </a:rPr>
              <a:t>Supports coordinated operation across yarn layers A, B and C, with built-in support for multicolor pattern programming.</a:t>
            </a:r>
          </a:p>
        </p:txBody>
      </p:sp>
      <p:sp>
        <p:nvSpPr>
          <p:cNvPr id="65" name="Capability background 2">
            <a:extLst>
              <a:ext uri="{FF2B5EF4-FFF2-40B4-BE49-F238E27FC236}">
                <a16:creationId xmlns:a16="http://schemas.microsoft.com/office/drawing/2014/main" id="{029D94A4-BFFE-40BC-B62D-FAA8A3000D71}"/>
              </a:ext>
            </a:extLst>
          </p:cNvPr>
          <p:cNvSpPr>
            <a:spLocks noGrp="1"/>
          </p:cNvSpPr>
          <p:nvPr/>
        </p:nvSpPr>
        <p:spPr>
          <a:xfrm>
            <a:off x="9620250" y="6962775"/>
            <a:ext cx="4333875" cy="752475"/>
          </a:xfrm>
          <a:prstGeom prst="roundRect">
            <a:avLst>
              <a:gd name="adj" fmla="val 11392"/>
            </a:avLst>
          </a:prstGeom>
          <a:solidFill>
            <a:srgbClr val="FBF6EB"/>
          </a:solidFill>
          <a:ln w="0">
            <a:noFill/>
          </a:ln>
        </p:spPr>
        <p:txBody>
          <a:bodyPr/>
          <a:lstStyle/>
          <a:p>
            <a:endParaRPr lang="zh-CN" altLang="en-US"/>
          </a:p>
        </p:txBody>
      </p:sp>
      <p:sp>
        <p:nvSpPr>
          <p:cNvPr id="66" name="Capability label 2">
            <a:extLst>
              <a:ext uri="{FF2B5EF4-FFF2-40B4-BE49-F238E27FC236}">
                <a16:creationId xmlns:a16="http://schemas.microsoft.com/office/drawing/2014/main" id="{96D861E3-9F96-432D-87F8-69213AFA8CEC}"/>
              </a:ext>
            </a:extLst>
          </p:cNvPr>
          <p:cNvSpPr>
            <a:spLocks noGrp="1"/>
          </p:cNvSpPr>
          <p:nvPr/>
        </p:nvSpPr>
        <p:spPr>
          <a:xfrm>
            <a:off x="9753600" y="6981825"/>
            <a:ext cx="4124325" cy="276225"/>
          </a:xfrm>
          <a:prstGeom prst="rect">
            <a:avLst/>
          </a:prstGeom>
          <a:noFill/>
          <a:ln w="0">
            <a:noFill/>
          </a:ln>
        </p:spPr>
        <p:txBody>
          <a:bodyPr wrap="square" lIns="0" tIns="0" rIns="0" bIns="0" anchor="t">
            <a:noAutofit/>
          </a:bodyPr>
          <a:lstStyle/>
          <a:p>
            <a:pPr algn="l">
              <a:lnSpc>
                <a:spcPct val="100000"/>
              </a:lnSpc>
              <a:buNone/>
              <a:defRPr sz="1950" b="1">
                <a:solidFill>
                  <a:srgbClr val="111111"/>
                </a:solidFill>
                <a:latin typeface="Nimbus Sans Narrow"/>
                <a:ea typeface="Nimbus Sans Narrow"/>
                <a:cs typeface="Nimbus Sans Narrow"/>
              </a:defRPr>
            </a:pPr>
            <a:r>
              <a:rPr sz="1950" b="1">
                <a:solidFill>
                  <a:srgbClr val="111111"/>
                </a:solidFill>
                <a:latin typeface="Nimbus Sans Narrow"/>
                <a:ea typeface="Nimbus Sans Narrow"/>
                <a:cs typeface="Nimbus Sans Narrow"/>
              </a:rPr>
              <a:t>Key Capabilities</a:t>
            </a:r>
          </a:p>
        </p:txBody>
      </p:sp>
      <p:sp>
        <p:nvSpPr>
          <p:cNvPr id="67" name="Capability gold bar 2">
            <a:extLst>
              <a:ext uri="{FF2B5EF4-FFF2-40B4-BE49-F238E27FC236}">
                <a16:creationId xmlns:a16="http://schemas.microsoft.com/office/drawing/2014/main" id="{9EDFC1F0-2B44-4C3D-8812-F36B551645EF}"/>
              </a:ext>
            </a:extLst>
          </p:cNvPr>
          <p:cNvSpPr>
            <a:spLocks noGrp="1"/>
          </p:cNvSpPr>
          <p:nvPr/>
        </p:nvSpPr>
        <p:spPr>
          <a:xfrm>
            <a:off x="9620250" y="7239000"/>
            <a:ext cx="4333875" cy="485775"/>
          </a:xfrm>
          <a:prstGeom prst="roundRect">
            <a:avLst>
              <a:gd name="adj" fmla="val 17647"/>
            </a:avLst>
          </a:prstGeom>
          <a:solidFill>
            <a:srgbClr val="EAAF1D"/>
          </a:solidFill>
          <a:ln w="0">
            <a:noFill/>
          </a:ln>
        </p:spPr>
        <p:txBody>
          <a:bodyPr/>
          <a:lstStyle/>
          <a:p>
            <a:endParaRPr lang="zh-CN" altLang="en-US"/>
          </a:p>
        </p:txBody>
      </p:sp>
      <p:sp>
        <p:nvSpPr>
          <p:cNvPr id="68" name="Capability detail 2">
            <a:extLst>
              <a:ext uri="{FF2B5EF4-FFF2-40B4-BE49-F238E27FC236}">
                <a16:creationId xmlns:a16="http://schemas.microsoft.com/office/drawing/2014/main" id="{53D91A82-AA65-4D16-8E0B-27AD83186C75}"/>
              </a:ext>
            </a:extLst>
          </p:cNvPr>
          <p:cNvSpPr>
            <a:spLocks noGrp="1"/>
          </p:cNvSpPr>
          <p:nvPr/>
        </p:nvSpPr>
        <p:spPr>
          <a:xfrm>
            <a:off x="9715500" y="7286625"/>
            <a:ext cx="4143375" cy="409575"/>
          </a:xfrm>
          <a:prstGeom prst="rect">
            <a:avLst/>
          </a:prstGeom>
          <a:noFill/>
          <a:ln w="0">
            <a:noFill/>
          </a:ln>
        </p:spPr>
        <p:txBody>
          <a:bodyPr wrap="square" lIns="0" tIns="0" rIns="0" bIns="0" anchor="t">
            <a:noAutofit/>
          </a:bodyPr>
          <a:lstStyle/>
          <a:p>
            <a:pPr algn="ctr">
              <a:lnSpc>
                <a:spcPct val="100000"/>
              </a:lnSpc>
              <a:buNone/>
              <a:defRPr sz="1425" b="1">
                <a:solidFill>
                  <a:srgbClr val="111111"/>
                </a:solidFill>
                <a:latin typeface="Nimbus Sans Narrow"/>
                <a:ea typeface="Nimbus Sans Narrow"/>
                <a:cs typeface="Nimbus Sans Narrow"/>
              </a:defRPr>
            </a:pPr>
            <a:r>
              <a:rPr sz="1425" b="1">
                <a:solidFill>
                  <a:srgbClr val="111111"/>
                </a:solidFill>
                <a:latin typeface="Nimbus Sans Narrow"/>
                <a:ea typeface="Nimbus Sans Narrow"/>
                <a:cs typeface="Nimbus Sans Narrow"/>
              </a:rPr>
              <a:t>Up to 3 Yarn Layers | Multicolor Compatibility |</a:t>
            </a:r>
          </a:p>
          <a:p>
            <a:pPr algn="ctr">
              <a:lnSpc>
                <a:spcPct val="100000"/>
              </a:lnSpc>
              <a:buNone/>
              <a:defRPr sz="1425" b="1">
                <a:solidFill>
                  <a:srgbClr val="111111"/>
                </a:solidFill>
                <a:latin typeface="Nimbus Sans Narrow"/>
                <a:ea typeface="Nimbus Sans Narrow"/>
                <a:cs typeface="Nimbus Sans Narrow"/>
              </a:defRPr>
            </a:pPr>
            <a:r>
              <a:rPr sz="1425" b="1">
                <a:solidFill>
                  <a:srgbClr val="111111"/>
                </a:solidFill>
                <a:latin typeface="Nimbus Sans Narrow"/>
                <a:ea typeface="Nimbus Sans Narrow"/>
                <a:cs typeface="Nimbus Sans Narrow"/>
              </a:rPr>
              <a:t>Automated Drawing-in</a:t>
            </a:r>
          </a:p>
        </p:txBody>
      </p:sp>
      <p:sp>
        <p:nvSpPr>
          <p:cNvPr id="69" name="Service outline">
            <a:extLst>
              <a:ext uri="{FF2B5EF4-FFF2-40B4-BE49-F238E27FC236}">
                <a16:creationId xmlns:a16="http://schemas.microsoft.com/office/drawing/2014/main" id="{69876322-2534-4908-92DD-648C83884878}"/>
              </a:ext>
            </a:extLst>
          </p:cNvPr>
          <p:cNvSpPr>
            <a:spLocks noGrp="1"/>
          </p:cNvSpPr>
          <p:nvPr/>
        </p:nvSpPr>
        <p:spPr>
          <a:xfrm>
            <a:off x="190500" y="7858125"/>
            <a:ext cx="13877925" cy="1457325"/>
          </a:xfrm>
          <a:prstGeom prst="roundRect">
            <a:avLst>
              <a:gd name="adj" fmla="val 3922"/>
            </a:avLst>
          </a:prstGeom>
          <a:solidFill>
            <a:srgbClr val="FFFFFF"/>
          </a:solidFill>
          <a:ln w="9525">
            <a:solidFill>
              <a:srgbClr val="EDC96C"/>
            </a:solidFill>
          </a:ln>
        </p:spPr>
        <p:txBody>
          <a:bodyPr/>
          <a:lstStyle/>
          <a:p>
            <a:endParaRPr lang="zh-CN" altLang="en-US"/>
          </a:p>
        </p:txBody>
      </p:sp>
      <p:sp>
        <p:nvSpPr>
          <p:cNvPr id="70" name="Service divider">
            <a:extLst>
              <a:ext uri="{FF2B5EF4-FFF2-40B4-BE49-F238E27FC236}">
                <a16:creationId xmlns:a16="http://schemas.microsoft.com/office/drawing/2014/main" id="{33CD9386-8F31-4D0D-8A80-F115DDAC645D}"/>
              </a:ext>
            </a:extLst>
          </p:cNvPr>
          <p:cNvSpPr>
            <a:spLocks noGrp="1"/>
          </p:cNvSpPr>
          <p:nvPr/>
        </p:nvSpPr>
        <p:spPr>
          <a:xfrm>
            <a:off x="7553325" y="8058150"/>
            <a:ext cx="14288" cy="1143000"/>
          </a:xfrm>
          <a:prstGeom prst="rect">
            <a:avLst/>
          </a:prstGeom>
          <a:solidFill>
            <a:srgbClr val="E7A300"/>
          </a:solidFill>
          <a:ln w="0">
            <a:noFill/>
          </a:ln>
        </p:spPr>
        <p:txBody>
          <a:bodyPr/>
          <a:lstStyle/>
          <a:p>
            <a:endParaRPr lang="zh-CN" altLang="en-US"/>
          </a:p>
        </p:txBody>
      </p:sp>
      <p:sp>
        <p:nvSpPr>
          <p:cNvPr id="71" name="Service heading">
            <a:extLst>
              <a:ext uri="{FF2B5EF4-FFF2-40B4-BE49-F238E27FC236}">
                <a16:creationId xmlns:a16="http://schemas.microsoft.com/office/drawing/2014/main" id="{04D20593-50E9-42EA-8E6F-8AEB824EC639}"/>
              </a:ext>
            </a:extLst>
          </p:cNvPr>
          <p:cNvSpPr>
            <a:spLocks noGrp="1"/>
          </p:cNvSpPr>
          <p:nvPr/>
        </p:nvSpPr>
        <p:spPr>
          <a:xfrm>
            <a:off x="352425" y="7953375"/>
            <a:ext cx="7096125" cy="342900"/>
          </a:xfrm>
          <a:prstGeom prst="rect">
            <a:avLst/>
          </a:prstGeom>
          <a:noFill/>
          <a:ln w="0">
            <a:noFill/>
          </a:ln>
        </p:spPr>
        <p:txBody>
          <a:bodyPr wrap="square" lIns="0" tIns="0" rIns="0" bIns="0" anchor="t">
            <a:noAutofit/>
          </a:bodyPr>
          <a:lstStyle/>
          <a:p>
            <a:pPr algn="l">
              <a:lnSpc>
                <a:spcPct val="100000"/>
              </a:lnSpc>
              <a:buNone/>
              <a:defRPr sz="1950" b="1">
                <a:solidFill>
                  <a:srgbClr val="111111"/>
                </a:solidFill>
                <a:latin typeface="Nimbus Sans Narrow"/>
                <a:ea typeface="Nimbus Sans Narrow"/>
                <a:cs typeface="Nimbus Sans Narrow"/>
              </a:defRPr>
            </a:pPr>
            <a:r>
              <a:rPr sz="1950" b="1" dirty="0">
                <a:solidFill>
                  <a:srgbClr val="111111"/>
                </a:solidFill>
                <a:latin typeface="Nimbus Sans Narrow"/>
                <a:ea typeface="Nimbus Sans Narrow"/>
                <a:cs typeface="Nimbus Sans Narrow"/>
              </a:rPr>
              <a:t>Built Around Your Production · Tailored Solutions &amp; Lifetime Service</a:t>
            </a:r>
          </a:p>
        </p:txBody>
      </p:sp>
      <p:sp>
        <p:nvSpPr>
          <p:cNvPr id="72" name="Service subtitle">
            <a:extLst>
              <a:ext uri="{FF2B5EF4-FFF2-40B4-BE49-F238E27FC236}">
                <a16:creationId xmlns:a16="http://schemas.microsoft.com/office/drawing/2014/main" id="{CF6036AB-1F9B-457E-BB6D-835BB08FEEE8}"/>
              </a:ext>
            </a:extLst>
          </p:cNvPr>
          <p:cNvSpPr>
            <a:spLocks noGrp="1"/>
          </p:cNvSpPr>
          <p:nvPr/>
        </p:nvSpPr>
        <p:spPr>
          <a:xfrm>
            <a:off x="361950" y="8315325"/>
            <a:ext cx="7058025" cy="276225"/>
          </a:xfrm>
          <a:prstGeom prst="rect">
            <a:avLst/>
          </a:prstGeom>
          <a:noFill/>
          <a:ln w="0">
            <a:noFill/>
          </a:ln>
        </p:spPr>
        <p:txBody>
          <a:bodyPr wrap="square" lIns="0" tIns="0" rIns="0" bIns="0" anchor="t">
            <a:noAutofit/>
          </a:bodyPr>
          <a:lstStyle/>
          <a:p>
            <a:pPr algn="l">
              <a:lnSpc>
                <a:spcPct val="100000"/>
              </a:lnSpc>
              <a:buNone/>
              <a:defRPr sz="1875" b="1">
                <a:solidFill>
                  <a:srgbClr val="808080"/>
                </a:solidFill>
                <a:latin typeface="Nimbus Sans Narrow"/>
                <a:ea typeface="Nimbus Sans Narrow"/>
                <a:cs typeface="Nimbus Sans Narrow"/>
              </a:defRPr>
            </a:pPr>
            <a:r>
              <a:rPr sz="1875" b="1" dirty="0">
                <a:solidFill>
                  <a:srgbClr val="808080"/>
                </a:solidFill>
                <a:latin typeface="Nimbus Sans Narrow"/>
                <a:ea typeface="Nimbus Sans Narrow"/>
                <a:cs typeface="Nimbus Sans Narrow"/>
              </a:rPr>
              <a:t>Online Technical Analysis. Real-Time Response.</a:t>
            </a:r>
          </a:p>
        </p:txBody>
      </p:sp>
      <p:sp>
        <p:nvSpPr>
          <p:cNvPr id="73" name="Service paragraph">
            <a:extLst>
              <a:ext uri="{FF2B5EF4-FFF2-40B4-BE49-F238E27FC236}">
                <a16:creationId xmlns:a16="http://schemas.microsoft.com/office/drawing/2014/main" id="{48B33DA3-A178-488D-9606-F05DA707AB50}"/>
              </a:ext>
            </a:extLst>
          </p:cNvPr>
          <p:cNvSpPr>
            <a:spLocks noGrp="1"/>
          </p:cNvSpPr>
          <p:nvPr/>
        </p:nvSpPr>
        <p:spPr>
          <a:xfrm>
            <a:off x="361950" y="8591550"/>
            <a:ext cx="7019925" cy="638175"/>
          </a:xfrm>
          <a:prstGeom prst="rect">
            <a:avLst/>
          </a:prstGeom>
          <a:noFill/>
          <a:ln w="0">
            <a:noFill/>
          </a:ln>
        </p:spPr>
        <p:txBody>
          <a:bodyPr wrap="square" lIns="0" tIns="0" rIns="0" bIns="0" anchor="t">
            <a:noAutofit/>
          </a:bodyPr>
          <a:lstStyle/>
          <a:p>
            <a:pPr algn="l">
              <a:lnSpc>
                <a:spcPct val="100000"/>
              </a:lnSpc>
              <a:buNone/>
              <a:defRPr sz="1500" b="0">
                <a:solidFill>
                  <a:srgbClr val="111111"/>
                </a:solidFill>
                <a:latin typeface="Nimbus Sans Narrow"/>
                <a:ea typeface="Nimbus Sans Narrow"/>
                <a:cs typeface="Nimbus Sans Narrow"/>
              </a:defRPr>
            </a:pPr>
            <a:r>
              <a:rPr sz="1500" b="0" dirty="0">
                <a:solidFill>
                  <a:srgbClr val="111111"/>
                </a:solidFill>
                <a:latin typeface="Nimbus Sans Narrow"/>
                <a:ea typeface="Nimbus Sans Narrow"/>
                <a:cs typeface="Nimbus Sans Narrow"/>
              </a:rPr>
              <a:t>Built on Windows with standard interfaces, the system supports customized updates based on actual production needs. Free software upgrades and ongoing algorithm improvements help the system adapt to new requirements and stay aligned with your production.</a:t>
            </a:r>
          </a:p>
        </p:txBody>
      </p:sp>
      <p:pic>
        <p:nvPicPr>
          <p:cNvPr id="163" name="图片 162"/>
          <p:cNvPicPr>
            <a:picLocks noChangeAspect="1"/>
          </p:cNvPicPr>
          <p:nvPr/>
        </p:nvPicPr>
        <p:blipFill>
          <a:blip r:embed="rId14"/>
          <a:stretch/>
        </p:blipFill>
        <p:spPr>
          <a:xfrm>
            <a:off x="8229600" y="7934325"/>
            <a:ext cx="581025" cy="533400"/>
          </a:xfrm>
          <a:prstGeom prst="rect">
            <a:avLst/>
          </a:prstGeom>
        </p:spPr>
      </p:pic>
      <p:pic>
        <p:nvPicPr>
          <p:cNvPr id="164" name="图片 163"/>
          <p:cNvPicPr>
            <a:picLocks noChangeAspect="1"/>
          </p:cNvPicPr>
          <p:nvPr/>
        </p:nvPicPr>
        <p:blipFill>
          <a:blip r:embed="rId15"/>
          <a:stretch/>
        </p:blipFill>
        <p:spPr>
          <a:xfrm>
            <a:off x="9667875" y="7934325"/>
            <a:ext cx="581025" cy="533400"/>
          </a:xfrm>
          <a:prstGeom prst="rect">
            <a:avLst/>
          </a:prstGeom>
        </p:spPr>
      </p:pic>
      <p:pic>
        <p:nvPicPr>
          <p:cNvPr id="165" name="图片 164"/>
          <p:cNvPicPr>
            <a:picLocks noChangeAspect="1"/>
          </p:cNvPicPr>
          <p:nvPr/>
        </p:nvPicPr>
        <p:blipFill>
          <a:blip r:embed="rId16"/>
          <a:stretch/>
        </p:blipFill>
        <p:spPr>
          <a:xfrm>
            <a:off x="11087100" y="7934325"/>
            <a:ext cx="600075" cy="533400"/>
          </a:xfrm>
          <a:prstGeom prst="rect">
            <a:avLst/>
          </a:prstGeom>
        </p:spPr>
      </p:pic>
      <p:pic>
        <p:nvPicPr>
          <p:cNvPr id="166" name="图片 165"/>
          <p:cNvPicPr>
            <a:picLocks noChangeAspect="1"/>
          </p:cNvPicPr>
          <p:nvPr/>
        </p:nvPicPr>
        <p:blipFill>
          <a:blip r:embed="rId17"/>
          <a:stretch/>
        </p:blipFill>
        <p:spPr>
          <a:xfrm>
            <a:off x="12553950" y="7934325"/>
            <a:ext cx="704850" cy="533400"/>
          </a:xfrm>
          <a:prstGeom prst="rect">
            <a:avLst/>
          </a:prstGeom>
        </p:spPr>
      </p:pic>
      <p:sp>
        <p:nvSpPr>
          <p:cNvPr id="78" name="Service process label 0">
            <a:extLst>
              <a:ext uri="{FF2B5EF4-FFF2-40B4-BE49-F238E27FC236}">
                <a16:creationId xmlns:a16="http://schemas.microsoft.com/office/drawing/2014/main" id="{D2840E78-440F-4B57-BE66-54F8CAE2BF5E}"/>
              </a:ext>
            </a:extLst>
          </p:cNvPr>
          <p:cNvSpPr>
            <a:spLocks noGrp="1"/>
          </p:cNvSpPr>
          <p:nvPr/>
        </p:nvSpPr>
        <p:spPr>
          <a:xfrm>
            <a:off x="7867650" y="8486775"/>
            <a:ext cx="1304925" cy="371475"/>
          </a:xfrm>
          <a:prstGeom prst="rect">
            <a:avLst/>
          </a:prstGeom>
          <a:noFill/>
          <a:ln w="0">
            <a:noFill/>
          </a:ln>
        </p:spPr>
        <p:txBody>
          <a:bodyPr wrap="square" lIns="0" tIns="0" rIns="0" bIns="0" anchor="t">
            <a:noAutofit/>
          </a:bodyPr>
          <a:lstStyle/>
          <a:p>
            <a:pPr algn="ctr">
              <a:lnSpc>
                <a:spcPct val="100000"/>
              </a:lnSpc>
              <a:buNone/>
              <a:defRPr sz="1350" b="1">
                <a:solidFill>
                  <a:srgbClr val="111111"/>
                </a:solidFill>
                <a:latin typeface="Nimbus Sans Narrow"/>
                <a:ea typeface="Nimbus Sans Narrow"/>
                <a:cs typeface="Nimbus Sans Narrow"/>
              </a:defRPr>
            </a:pPr>
            <a:r>
              <a:rPr sz="1350" b="1" dirty="0">
                <a:solidFill>
                  <a:srgbClr val="111111"/>
                </a:solidFill>
                <a:latin typeface="Nimbus Sans Narrow"/>
                <a:ea typeface="Nimbus Sans Narrow"/>
                <a:cs typeface="Nimbus Sans Narrow"/>
              </a:rPr>
              <a:t>Production</a:t>
            </a:r>
          </a:p>
          <a:p>
            <a:pPr algn="ctr">
              <a:lnSpc>
                <a:spcPct val="100000"/>
              </a:lnSpc>
              <a:buNone/>
              <a:defRPr sz="1350" b="1">
                <a:solidFill>
                  <a:srgbClr val="111111"/>
                </a:solidFill>
                <a:latin typeface="Nimbus Sans Narrow"/>
                <a:ea typeface="Nimbus Sans Narrow"/>
                <a:cs typeface="Nimbus Sans Narrow"/>
              </a:defRPr>
            </a:pPr>
            <a:r>
              <a:rPr sz="1350" b="1" dirty="0">
                <a:solidFill>
                  <a:srgbClr val="111111"/>
                </a:solidFill>
                <a:latin typeface="Nimbus Sans Narrow"/>
                <a:ea typeface="Nimbus Sans Narrow"/>
                <a:cs typeface="Nimbus Sans Narrow"/>
              </a:rPr>
              <a:t>Requirements</a:t>
            </a:r>
          </a:p>
        </p:txBody>
      </p:sp>
      <p:sp>
        <p:nvSpPr>
          <p:cNvPr id="79" name="Service process label 1">
            <a:extLst>
              <a:ext uri="{FF2B5EF4-FFF2-40B4-BE49-F238E27FC236}">
                <a16:creationId xmlns:a16="http://schemas.microsoft.com/office/drawing/2014/main" id="{CBC57328-A18B-49D7-95B8-4BE190212B8B}"/>
              </a:ext>
            </a:extLst>
          </p:cNvPr>
          <p:cNvSpPr>
            <a:spLocks noGrp="1"/>
          </p:cNvSpPr>
          <p:nvPr/>
        </p:nvSpPr>
        <p:spPr>
          <a:xfrm>
            <a:off x="9305925" y="8486775"/>
            <a:ext cx="1304925" cy="371475"/>
          </a:xfrm>
          <a:prstGeom prst="rect">
            <a:avLst/>
          </a:prstGeom>
          <a:noFill/>
          <a:ln w="0">
            <a:noFill/>
          </a:ln>
        </p:spPr>
        <p:txBody>
          <a:bodyPr wrap="square" lIns="0" tIns="0" rIns="0" bIns="0" anchor="t">
            <a:noAutofit/>
          </a:bodyPr>
          <a:lstStyle/>
          <a:p>
            <a:pPr algn="ctr">
              <a:lnSpc>
                <a:spcPct val="100000"/>
              </a:lnSpc>
              <a:buNone/>
              <a:defRPr sz="1350" b="1">
                <a:solidFill>
                  <a:srgbClr val="111111"/>
                </a:solidFill>
                <a:latin typeface="Nimbus Sans Narrow"/>
                <a:ea typeface="Nimbus Sans Narrow"/>
                <a:cs typeface="Nimbus Sans Narrow"/>
              </a:defRPr>
            </a:pPr>
            <a:r>
              <a:rPr sz="1350" b="1">
                <a:solidFill>
                  <a:srgbClr val="111111"/>
                </a:solidFill>
                <a:latin typeface="Nimbus Sans Narrow"/>
                <a:ea typeface="Nimbus Sans Narrow"/>
                <a:cs typeface="Nimbus Sans Narrow"/>
              </a:rPr>
              <a:t>Online</a:t>
            </a:r>
          </a:p>
          <a:p>
            <a:pPr algn="ctr">
              <a:lnSpc>
                <a:spcPct val="100000"/>
              </a:lnSpc>
              <a:buNone/>
              <a:defRPr sz="1350" b="1">
                <a:solidFill>
                  <a:srgbClr val="111111"/>
                </a:solidFill>
                <a:latin typeface="Nimbus Sans Narrow"/>
                <a:ea typeface="Nimbus Sans Narrow"/>
                <a:cs typeface="Nimbus Sans Narrow"/>
              </a:defRPr>
            </a:pPr>
            <a:r>
              <a:rPr sz="1350" b="1">
                <a:solidFill>
                  <a:srgbClr val="111111"/>
                </a:solidFill>
                <a:latin typeface="Nimbus Sans Narrow"/>
                <a:ea typeface="Nimbus Sans Narrow"/>
                <a:cs typeface="Nimbus Sans Narrow"/>
              </a:rPr>
              <a:t>Analysis</a:t>
            </a:r>
          </a:p>
        </p:txBody>
      </p:sp>
      <p:sp>
        <p:nvSpPr>
          <p:cNvPr id="80" name="Service process label 2">
            <a:extLst>
              <a:ext uri="{FF2B5EF4-FFF2-40B4-BE49-F238E27FC236}">
                <a16:creationId xmlns:a16="http://schemas.microsoft.com/office/drawing/2014/main" id="{56328373-9C6E-4A26-BB39-32849FD9B652}"/>
              </a:ext>
            </a:extLst>
          </p:cNvPr>
          <p:cNvSpPr>
            <a:spLocks noGrp="1"/>
          </p:cNvSpPr>
          <p:nvPr/>
        </p:nvSpPr>
        <p:spPr>
          <a:xfrm>
            <a:off x="10744200" y="8486775"/>
            <a:ext cx="1304925" cy="371475"/>
          </a:xfrm>
          <a:prstGeom prst="rect">
            <a:avLst/>
          </a:prstGeom>
          <a:noFill/>
          <a:ln w="0">
            <a:noFill/>
          </a:ln>
        </p:spPr>
        <p:txBody>
          <a:bodyPr wrap="square" lIns="0" tIns="0" rIns="0" bIns="0" anchor="t">
            <a:noAutofit/>
          </a:bodyPr>
          <a:lstStyle/>
          <a:p>
            <a:pPr algn="ctr">
              <a:lnSpc>
                <a:spcPct val="100000"/>
              </a:lnSpc>
              <a:buNone/>
              <a:defRPr sz="1350" b="1">
                <a:solidFill>
                  <a:srgbClr val="111111"/>
                </a:solidFill>
                <a:latin typeface="Nimbus Sans Narrow"/>
                <a:ea typeface="Nimbus Sans Narrow"/>
                <a:cs typeface="Nimbus Sans Narrow"/>
              </a:defRPr>
            </a:pPr>
            <a:r>
              <a:rPr sz="1350" b="1">
                <a:solidFill>
                  <a:srgbClr val="111111"/>
                </a:solidFill>
                <a:latin typeface="Nimbus Sans Narrow"/>
                <a:ea typeface="Nimbus Sans Narrow"/>
                <a:cs typeface="Nimbus Sans Narrow"/>
              </a:rPr>
              <a:t>Software</a:t>
            </a:r>
          </a:p>
          <a:p>
            <a:pPr algn="ctr">
              <a:lnSpc>
                <a:spcPct val="100000"/>
              </a:lnSpc>
              <a:buNone/>
              <a:defRPr sz="1350" b="1">
                <a:solidFill>
                  <a:srgbClr val="111111"/>
                </a:solidFill>
                <a:latin typeface="Nimbus Sans Narrow"/>
                <a:ea typeface="Nimbus Sans Narrow"/>
                <a:cs typeface="Nimbus Sans Narrow"/>
              </a:defRPr>
            </a:pPr>
            <a:r>
              <a:rPr sz="1350" b="1">
                <a:solidFill>
                  <a:srgbClr val="111111"/>
                </a:solidFill>
                <a:latin typeface="Nimbus Sans Narrow"/>
                <a:ea typeface="Nimbus Sans Narrow"/>
                <a:cs typeface="Nimbus Sans Narrow"/>
              </a:rPr>
              <a:t>Upgrades</a:t>
            </a:r>
          </a:p>
        </p:txBody>
      </p:sp>
      <p:sp>
        <p:nvSpPr>
          <p:cNvPr id="81" name="Service process label 3">
            <a:extLst>
              <a:ext uri="{FF2B5EF4-FFF2-40B4-BE49-F238E27FC236}">
                <a16:creationId xmlns:a16="http://schemas.microsoft.com/office/drawing/2014/main" id="{61C3BBE6-0D31-4DC2-9988-D5227313BABF}"/>
              </a:ext>
            </a:extLst>
          </p:cNvPr>
          <p:cNvSpPr>
            <a:spLocks noGrp="1"/>
          </p:cNvSpPr>
          <p:nvPr/>
        </p:nvSpPr>
        <p:spPr>
          <a:xfrm>
            <a:off x="12192000" y="8486775"/>
            <a:ext cx="1304925" cy="371475"/>
          </a:xfrm>
          <a:prstGeom prst="rect">
            <a:avLst/>
          </a:prstGeom>
          <a:noFill/>
          <a:ln w="0">
            <a:noFill/>
          </a:ln>
        </p:spPr>
        <p:txBody>
          <a:bodyPr wrap="square" lIns="0" tIns="0" rIns="0" bIns="0" anchor="t">
            <a:noAutofit/>
          </a:bodyPr>
          <a:lstStyle/>
          <a:p>
            <a:pPr algn="ctr">
              <a:lnSpc>
                <a:spcPct val="100000"/>
              </a:lnSpc>
              <a:buNone/>
              <a:defRPr sz="1350" b="1">
                <a:solidFill>
                  <a:srgbClr val="111111"/>
                </a:solidFill>
                <a:latin typeface="Nimbus Sans Narrow"/>
                <a:ea typeface="Nimbus Sans Narrow"/>
                <a:cs typeface="Nimbus Sans Narrow"/>
              </a:defRPr>
            </a:pPr>
            <a:r>
              <a:rPr sz="1350" b="1">
                <a:solidFill>
                  <a:srgbClr val="111111"/>
                </a:solidFill>
                <a:latin typeface="Nimbus Sans Narrow"/>
                <a:ea typeface="Nimbus Sans Narrow"/>
                <a:cs typeface="Nimbus Sans Narrow"/>
              </a:rPr>
              <a:t>Ongoing</a:t>
            </a:r>
          </a:p>
          <a:p>
            <a:pPr algn="ctr">
              <a:lnSpc>
                <a:spcPct val="100000"/>
              </a:lnSpc>
              <a:buNone/>
              <a:defRPr sz="1350" b="1">
                <a:solidFill>
                  <a:srgbClr val="111111"/>
                </a:solidFill>
                <a:latin typeface="Nimbus Sans Narrow"/>
                <a:ea typeface="Nimbus Sans Narrow"/>
                <a:cs typeface="Nimbus Sans Narrow"/>
              </a:defRPr>
            </a:pPr>
            <a:r>
              <a:rPr sz="1350" b="1">
                <a:solidFill>
                  <a:srgbClr val="111111"/>
                </a:solidFill>
                <a:latin typeface="Nimbus Sans Narrow"/>
                <a:ea typeface="Nimbus Sans Narrow"/>
                <a:cs typeface="Nimbus Sans Narrow"/>
              </a:rPr>
              <a:t>Adaptation</a:t>
            </a:r>
          </a:p>
        </p:txBody>
      </p:sp>
      <p:sp>
        <p:nvSpPr>
          <p:cNvPr id="82" name="Service arrow 0">
            <a:extLst>
              <a:ext uri="{FF2B5EF4-FFF2-40B4-BE49-F238E27FC236}">
                <a16:creationId xmlns:a16="http://schemas.microsoft.com/office/drawing/2014/main" id="{17E7160B-9386-44D9-841F-01FE71CF3FEB}"/>
              </a:ext>
            </a:extLst>
          </p:cNvPr>
          <p:cNvSpPr>
            <a:spLocks noGrp="1"/>
          </p:cNvSpPr>
          <p:nvPr/>
        </p:nvSpPr>
        <p:spPr>
          <a:xfrm>
            <a:off x="9067800" y="8039100"/>
            <a:ext cx="314325" cy="342900"/>
          </a:xfrm>
          <a:prstGeom prst="rect">
            <a:avLst/>
          </a:prstGeom>
          <a:noFill/>
          <a:ln w="0">
            <a:noFill/>
          </a:ln>
        </p:spPr>
        <p:txBody>
          <a:bodyPr wrap="square" lIns="0" tIns="0" rIns="0" bIns="0" anchor="t">
            <a:noAutofit/>
          </a:bodyPr>
          <a:lstStyle/>
          <a:p>
            <a:pPr algn="l">
              <a:lnSpc>
                <a:spcPct val="100000"/>
              </a:lnSpc>
              <a:buNone/>
              <a:defRPr sz="2550" b="0">
                <a:solidFill>
                  <a:srgbClr val="E7A300"/>
                </a:solidFill>
                <a:latin typeface="Nimbus Sans Narrow"/>
                <a:ea typeface="Nimbus Sans Narrow"/>
                <a:cs typeface="Nimbus Sans Narrow"/>
              </a:defRPr>
            </a:pPr>
            <a:r>
              <a:rPr sz="2550" b="0">
                <a:solidFill>
                  <a:srgbClr val="E7A300"/>
                </a:solidFill>
                <a:latin typeface="Nimbus Sans Narrow"/>
                <a:ea typeface="Nimbus Sans Narrow"/>
                <a:cs typeface="Nimbus Sans Narrow"/>
              </a:rPr>
              <a:t>→</a:t>
            </a:r>
          </a:p>
        </p:txBody>
      </p:sp>
      <p:sp>
        <p:nvSpPr>
          <p:cNvPr id="83" name="Service arrow 1">
            <a:extLst>
              <a:ext uri="{FF2B5EF4-FFF2-40B4-BE49-F238E27FC236}">
                <a16:creationId xmlns:a16="http://schemas.microsoft.com/office/drawing/2014/main" id="{65DA07D6-79A7-4848-B548-812E4BA5C81A}"/>
              </a:ext>
            </a:extLst>
          </p:cNvPr>
          <p:cNvSpPr>
            <a:spLocks noGrp="1"/>
          </p:cNvSpPr>
          <p:nvPr/>
        </p:nvSpPr>
        <p:spPr>
          <a:xfrm>
            <a:off x="10515600" y="8039100"/>
            <a:ext cx="314325" cy="342900"/>
          </a:xfrm>
          <a:prstGeom prst="rect">
            <a:avLst/>
          </a:prstGeom>
          <a:noFill/>
          <a:ln w="0">
            <a:noFill/>
          </a:ln>
        </p:spPr>
        <p:txBody>
          <a:bodyPr wrap="square" lIns="0" tIns="0" rIns="0" bIns="0" anchor="t">
            <a:noAutofit/>
          </a:bodyPr>
          <a:lstStyle/>
          <a:p>
            <a:pPr algn="l">
              <a:lnSpc>
                <a:spcPct val="100000"/>
              </a:lnSpc>
              <a:buNone/>
              <a:defRPr sz="2550" b="0">
                <a:solidFill>
                  <a:srgbClr val="E7A300"/>
                </a:solidFill>
                <a:latin typeface="Nimbus Sans Narrow"/>
                <a:ea typeface="Nimbus Sans Narrow"/>
                <a:cs typeface="Nimbus Sans Narrow"/>
              </a:defRPr>
            </a:pPr>
            <a:r>
              <a:rPr sz="2550" b="0">
                <a:solidFill>
                  <a:srgbClr val="E7A300"/>
                </a:solidFill>
                <a:latin typeface="Nimbus Sans Narrow"/>
                <a:ea typeface="Nimbus Sans Narrow"/>
                <a:cs typeface="Nimbus Sans Narrow"/>
              </a:rPr>
              <a:t>→</a:t>
            </a:r>
          </a:p>
        </p:txBody>
      </p:sp>
      <p:sp>
        <p:nvSpPr>
          <p:cNvPr id="84" name="Service arrow 2">
            <a:extLst>
              <a:ext uri="{FF2B5EF4-FFF2-40B4-BE49-F238E27FC236}">
                <a16:creationId xmlns:a16="http://schemas.microsoft.com/office/drawing/2014/main" id="{64F06F21-4E35-4317-9C93-52B6D2B4DA3E}"/>
              </a:ext>
            </a:extLst>
          </p:cNvPr>
          <p:cNvSpPr>
            <a:spLocks noGrp="1"/>
          </p:cNvSpPr>
          <p:nvPr/>
        </p:nvSpPr>
        <p:spPr>
          <a:xfrm>
            <a:off x="11963400" y="8039100"/>
            <a:ext cx="314325" cy="342900"/>
          </a:xfrm>
          <a:prstGeom prst="rect">
            <a:avLst/>
          </a:prstGeom>
          <a:noFill/>
          <a:ln w="0">
            <a:noFill/>
          </a:ln>
        </p:spPr>
        <p:txBody>
          <a:bodyPr wrap="square" lIns="0" tIns="0" rIns="0" bIns="0" anchor="t">
            <a:noAutofit/>
          </a:bodyPr>
          <a:lstStyle/>
          <a:p>
            <a:pPr algn="l">
              <a:lnSpc>
                <a:spcPct val="100000"/>
              </a:lnSpc>
              <a:buNone/>
              <a:defRPr sz="2550" b="0">
                <a:solidFill>
                  <a:srgbClr val="E7A300"/>
                </a:solidFill>
                <a:latin typeface="Nimbus Sans Narrow"/>
                <a:ea typeface="Nimbus Sans Narrow"/>
                <a:cs typeface="Nimbus Sans Narrow"/>
              </a:defRPr>
            </a:pPr>
            <a:r>
              <a:rPr sz="2550" b="0">
                <a:solidFill>
                  <a:srgbClr val="E7A300"/>
                </a:solidFill>
                <a:latin typeface="Nimbus Sans Narrow"/>
                <a:ea typeface="Nimbus Sans Narrow"/>
                <a:cs typeface="Nimbus Sans Narrow"/>
              </a:rPr>
              <a:t>→</a:t>
            </a:r>
          </a:p>
        </p:txBody>
      </p:sp>
      <p:sp>
        <p:nvSpPr>
          <p:cNvPr id="85" name="Service gold bar">
            <a:extLst>
              <a:ext uri="{FF2B5EF4-FFF2-40B4-BE49-F238E27FC236}">
                <a16:creationId xmlns:a16="http://schemas.microsoft.com/office/drawing/2014/main" id="{476DACE3-FEB9-495F-A0CC-0345F2CE919B}"/>
              </a:ext>
            </a:extLst>
          </p:cNvPr>
          <p:cNvSpPr>
            <a:spLocks noGrp="1"/>
          </p:cNvSpPr>
          <p:nvPr/>
        </p:nvSpPr>
        <p:spPr>
          <a:xfrm>
            <a:off x="7724775" y="8877300"/>
            <a:ext cx="6200775" cy="342900"/>
          </a:xfrm>
          <a:prstGeom prst="roundRect">
            <a:avLst>
              <a:gd name="adj" fmla="val 50000"/>
            </a:avLst>
          </a:prstGeom>
          <a:solidFill>
            <a:srgbClr val="EAAF1D"/>
          </a:solidFill>
          <a:ln w="0">
            <a:noFill/>
          </a:ln>
        </p:spPr>
        <p:txBody>
          <a:bodyPr/>
          <a:lstStyle/>
          <a:p>
            <a:endParaRPr lang="zh-CN" altLang="en-US"/>
          </a:p>
        </p:txBody>
      </p:sp>
      <p:sp>
        <p:nvSpPr>
          <p:cNvPr id="86" name="Service capability strip">
            <a:extLst>
              <a:ext uri="{FF2B5EF4-FFF2-40B4-BE49-F238E27FC236}">
                <a16:creationId xmlns:a16="http://schemas.microsoft.com/office/drawing/2014/main" id="{DDC5D173-D2AE-495D-BFB4-D0FA6384564E}"/>
              </a:ext>
            </a:extLst>
          </p:cNvPr>
          <p:cNvSpPr>
            <a:spLocks noGrp="1"/>
          </p:cNvSpPr>
          <p:nvPr/>
        </p:nvSpPr>
        <p:spPr>
          <a:xfrm>
            <a:off x="7848600" y="8963025"/>
            <a:ext cx="5962650" cy="238125"/>
          </a:xfrm>
          <a:prstGeom prst="rect">
            <a:avLst/>
          </a:prstGeom>
          <a:noFill/>
          <a:ln w="0">
            <a:noFill/>
          </a:ln>
        </p:spPr>
        <p:txBody>
          <a:bodyPr wrap="square" lIns="0" tIns="0" rIns="0" bIns="0" anchor="t">
            <a:noAutofit/>
          </a:bodyPr>
          <a:lstStyle/>
          <a:p>
            <a:pPr algn="ctr">
              <a:lnSpc>
                <a:spcPct val="100000"/>
              </a:lnSpc>
              <a:buNone/>
              <a:defRPr sz="1050" b="1">
                <a:solidFill>
                  <a:srgbClr val="111111"/>
                </a:solidFill>
                <a:latin typeface="Nimbus Sans Narrow"/>
                <a:ea typeface="Nimbus Sans Narrow"/>
                <a:cs typeface="Nimbus Sans Narrow"/>
              </a:defRPr>
            </a:pPr>
            <a:r>
              <a:rPr sz="1050" b="1">
                <a:solidFill>
                  <a:srgbClr val="111111"/>
                </a:solidFill>
                <a:latin typeface="Nimbus Sans Narrow"/>
                <a:ea typeface="Nimbus Sans Narrow"/>
                <a:cs typeface="Nimbus Sans Narrow"/>
              </a:rPr>
              <a:t>Windows Platform | On-Site Customization | Free Upgrades | Expandable Architecture | Lifetime Evolution</a:t>
            </a:r>
          </a:p>
        </p:txBody>
      </p:sp>
      <p:sp>
        <p:nvSpPr>
          <p:cNvPr id="87" name="Footer rule">
            <a:extLst>
              <a:ext uri="{FF2B5EF4-FFF2-40B4-BE49-F238E27FC236}">
                <a16:creationId xmlns:a16="http://schemas.microsoft.com/office/drawing/2014/main" id="{63A918B6-DABF-4A07-A4FB-3ABBC11D06E0}"/>
              </a:ext>
            </a:extLst>
          </p:cNvPr>
          <p:cNvSpPr>
            <a:spLocks noGrp="1"/>
          </p:cNvSpPr>
          <p:nvPr/>
        </p:nvSpPr>
        <p:spPr>
          <a:xfrm>
            <a:off x="200025" y="9439275"/>
            <a:ext cx="13877925" cy="19050"/>
          </a:xfrm>
          <a:prstGeom prst="rect">
            <a:avLst/>
          </a:prstGeom>
          <a:solidFill>
            <a:srgbClr val="E7A300"/>
          </a:solidFill>
          <a:ln w="0">
            <a:noFill/>
          </a:ln>
        </p:spPr>
        <p:txBody>
          <a:bodyPr/>
          <a:lstStyle/>
          <a:p>
            <a:endParaRPr lang="zh-CN" altLang="en-US"/>
          </a:p>
        </p:txBody>
      </p:sp>
      <p:sp>
        <p:nvSpPr>
          <p:cNvPr id="88" name="Footer DVI">
            <a:extLst>
              <a:ext uri="{FF2B5EF4-FFF2-40B4-BE49-F238E27FC236}">
                <a16:creationId xmlns:a16="http://schemas.microsoft.com/office/drawing/2014/main" id="{B3D24B5D-1EAD-4EC2-9F9C-EBFC654C2DB2}"/>
              </a:ext>
            </a:extLst>
          </p:cNvPr>
          <p:cNvSpPr>
            <a:spLocks noGrp="1"/>
          </p:cNvSpPr>
          <p:nvPr/>
        </p:nvSpPr>
        <p:spPr>
          <a:xfrm>
            <a:off x="209550" y="9534525"/>
            <a:ext cx="1047750" cy="333375"/>
          </a:xfrm>
          <a:prstGeom prst="rect">
            <a:avLst/>
          </a:prstGeom>
          <a:noFill/>
          <a:ln w="0">
            <a:noFill/>
          </a:ln>
        </p:spPr>
        <p:txBody>
          <a:bodyPr wrap="square" lIns="0" tIns="0" rIns="0" bIns="0" anchor="t">
            <a:noAutofit/>
          </a:bodyPr>
          <a:lstStyle/>
          <a:p>
            <a:pPr algn="l">
              <a:lnSpc>
                <a:spcPct val="100000"/>
              </a:lnSpc>
              <a:buNone/>
              <a:defRPr sz="2250" b="1">
                <a:solidFill>
                  <a:srgbClr val="111111"/>
                </a:solidFill>
                <a:latin typeface="Nimbus Sans Narrow"/>
                <a:ea typeface="Nimbus Sans Narrow"/>
                <a:cs typeface="Nimbus Sans Narrow"/>
              </a:defRPr>
            </a:pPr>
            <a:r>
              <a:rPr sz="2250" b="1">
                <a:solidFill>
                  <a:srgbClr val="111111"/>
                </a:solidFill>
                <a:latin typeface="Nimbus Sans Narrow"/>
                <a:ea typeface="Nimbus Sans Narrow"/>
                <a:cs typeface="Nimbus Sans Narrow"/>
              </a:rPr>
              <a:t>DVI</a:t>
            </a:r>
          </a:p>
        </p:txBody>
      </p:sp>
      <p:sp>
        <p:nvSpPr>
          <p:cNvPr id="89" name="Footer solution">
            <a:extLst>
              <a:ext uri="{FF2B5EF4-FFF2-40B4-BE49-F238E27FC236}">
                <a16:creationId xmlns:a16="http://schemas.microsoft.com/office/drawing/2014/main" id="{ED18282B-F9F0-4223-A6E4-BEDCC6CE34D5}"/>
              </a:ext>
            </a:extLst>
          </p:cNvPr>
          <p:cNvSpPr>
            <a:spLocks noGrp="1"/>
          </p:cNvSpPr>
          <p:nvPr/>
        </p:nvSpPr>
        <p:spPr>
          <a:xfrm>
            <a:off x="8601075" y="9563100"/>
            <a:ext cx="5467350" cy="257175"/>
          </a:xfrm>
          <a:prstGeom prst="rect">
            <a:avLst/>
          </a:prstGeom>
          <a:noFill/>
          <a:ln w="0">
            <a:noFill/>
          </a:ln>
        </p:spPr>
        <p:txBody>
          <a:bodyPr wrap="square" lIns="0" tIns="0" rIns="0" bIns="0" anchor="t">
            <a:noAutofit/>
          </a:bodyPr>
          <a:lstStyle/>
          <a:p>
            <a:pPr algn="r">
              <a:lnSpc>
                <a:spcPct val="100000"/>
              </a:lnSpc>
              <a:buNone/>
              <a:defRPr sz="1575" b="0">
                <a:solidFill>
                  <a:srgbClr val="111111"/>
                </a:solidFill>
                <a:latin typeface="Nimbus Sans Narrow"/>
                <a:ea typeface="Nimbus Sans Narrow"/>
                <a:cs typeface="Nimbus Sans Narrow"/>
              </a:defRPr>
            </a:pPr>
            <a:r>
              <a:rPr sz="1575" b="0">
                <a:solidFill>
                  <a:srgbClr val="111111"/>
                </a:solidFill>
                <a:latin typeface="Nimbus Sans Narrow"/>
                <a:ea typeface="Nimbus Sans Narrow"/>
                <a:cs typeface="Nimbus Sans Narrow"/>
              </a:rPr>
              <a:t>Comprehensive Solutions for Intelligent Textile Manufacturing</a:t>
            </a:r>
          </a:p>
        </p:txBody>
      </p:sp>
    </p:spTree>
    <p:extLst>
      <p:ext uri="{BB962C8B-B14F-4D97-AF65-F5344CB8AC3E}">
        <p14:creationId xmlns:p14="http://schemas.microsoft.com/office/powerpoint/2010/main" val="7824317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371</Words>
  <Application>Microsoft Office PowerPoint</Application>
  <DocSecurity>0</DocSecurity>
  <PresentationFormat>自定义</PresentationFormat>
  <Paragraphs>63</Paragraphs>
  <Slides>1</Slides>
  <Notes>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vt:i4>
      </vt:variant>
    </vt:vector>
  </HeadingPairs>
  <TitlesOfParts>
    <vt:vector size="4" baseType="lpstr">
      <vt:lpstr>Nimbus Sans Narrow</vt:lpstr>
      <vt:lpstr>Calibri</vt:lpstr>
      <vt:lpstr>ChatGPT</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个人用户</cp:lastModifiedBy>
  <cp:revision>2</cp:revision>
  <dcterms:created xsi:type="dcterms:W3CDTF">2026-09-12T09:52:09Z</dcterms:created>
  <dcterms:modified xsi:type="dcterms:W3CDTF">2026-09-12T10:30:06Z</dcterms:modified>
</cp:coreProperties>
</file>